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 id="2147483651" r:id="rId2"/>
  </p:sldMasterIdLst>
  <p:notesMasterIdLst>
    <p:notesMasterId r:id="rId12"/>
  </p:notesMasterIdLst>
  <p:handoutMasterIdLst>
    <p:handoutMasterId r:id="rId13"/>
  </p:handoutMasterIdLst>
  <p:sldIdLst>
    <p:sldId id="1879" r:id="rId3"/>
    <p:sldId id="1843" r:id="rId4"/>
    <p:sldId id="1844" r:id="rId5"/>
    <p:sldId id="1845" r:id="rId6"/>
    <p:sldId id="1846" r:id="rId7"/>
    <p:sldId id="1851" r:id="rId8"/>
    <p:sldId id="1852" r:id="rId9"/>
    <p:sldId id="1850" r:id="rId10"/>
    <p:sldId id="1877"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6F0"/>
    <a:srgbClr val="FF9999"/>
    <a:srgbClr val="D51C2C"/>
    <a:srgbClr val="993300"/>
    <a:srgbClr val="990033"/>
    <a:srgbClr val="CC33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786"/>
    <p:restoredTop sz="94737"/>
  </p:normalViewPr>
  <p:slideViewPr>
    <p:cSldViewPr snapToGrid="0">
      <p:cViewPr varScale="1">
        <p:scale>
          <a:sx n="149" d="100"/>
          <a:sy n="149" d="100"/>
        </p:scale>
        <p:origin x="248" y="176"/>
      </p:cViewPr>
      <p:guideLst/>
    </p:cSldViewPr>
  </p:slideViewPr>
  <p:notesTextViewPr>
    <p:cViewPr>
      <p:scale>
        <a:sx n="1" d="1"/>
        <a:sy n="1" d="1"/>
      </p:scale>
      <p:origin x="0" y="0"/>
    </p:cViewPr>
  </p:notesTextViewPr>
  <p:notesViewPr>
    <p:cSldViewPr snapToGrid="0">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handoutMaster" Target="handoutMasters/handoutMaster1.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notesMaster" Target="notesMasters/notesMaster1.xml"/><Relationship Id="rId17"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viewProps" Target="viewProps.xml"/><Relationship Id="rId10" Type="http://schemas.openxmlformats.org/officeDocument/2006/relationships/slide" Target="slides/slide8.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0EFE299D-2AEE-6BD9-569E-7893EAD2EC16}"/>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4BDA8C67-8039-E483-F714-8E84A4A980D5}"/>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BF4F5475-382E-4497-8277-574069CE58F6}" type="datetimeFigureOut">
              <a:rPr lang="en-US" smtClean="0"/>
              <a:t>12/3/24</a:t>
            </a:fld>
            <a:endParaRPr lang="en-US"/>
          </a:p>
        </p:txBody>
      </p:sp>
      <p:sp>
        <p:nvSpPr>
          <p:cNvPr id="4" name="Footer Placeholder 3">
            <a:extLst>
              <a:ext uri="{FF2B5EF4-FFF2-40B4-BE49-F238E27FC236}">
                <a16:creationId xmlns:a16="http://schemas.microsoft.com/office/drawing/2014/main" id="{F4C7778F-DF7C-4407-8429-0994C4784BAD}"/>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F7B2F3FF-F42A-D9C4-D79B-8360CCD23B9C}"/>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111C0C7C-9612-42E4-98F6-D26FB93D1B42}" type="slidenum">
              <a:rPr lang="en-US" smtClean="0"/>
              <a:t>‹#›</a:t>
            </a:fld>
            <a:endParaRPr lang="en-US"/>
          </a:p>
        </p:txBody>
      </p:sp>
    </p:spTree>
    <p:extLst>
      <p:ext uri="{BB962C8B-B14F-4D97-AF65-F5344CB8AC3E}">
        <p14:creationId xmlns:p14="http://schemas.microsoft.com/office/powerpoint/2010/main" val="3695480603"/>
      </p:ext>
    </p:extLst>
  </p:cSld>
  <p:clrMap bg1="lt1" tx1="dk1" bg2="lt2" tx2="dk2" accent1="accent1" accent2="accent2" accent3="accent3" accent4="accent4" accent5="accent5" accent6="accent6" hlink="hlink" folHlink="folHlink"/>
  <p:hf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n-US"/>
              <a:t>EECE 7201: Solid State Devices </a:t>
            </a:r>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1BC73EE-6469-E04A-9ACE-9FA9ACC16D65}" type="datetimeFigureOut">
              <a:rPr lang="en-US" smtClean="0"/>
              <a:t>12/3/24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686EB0C-FA81-6244-B724-962663F9D33C}" type="slidenum">
              <a:rPr lang="en-US" smtClean="0"/>
              <a:t>‹#›</a:t>
            </a:fld>
            <a:endParaRPr lang="en-US"/>
          </a:p>
        </p:txBody>
      </p:sp>
    </p:spTree>
    <p:extLst>
      <p:ext uri="{BB962C8B-B14F-4D97-AF65-F5344CB8AC3E}">
        <p14:creationId xmlns:p14="http://schemas.microsoft.com/office/powerpoint/2010/main" val="2285048029"/>
      </p:ext>
    </p:extLst>
  </p:cSld>
  <p:clrMap bg1="lt1" tx1="dk1" bg2="lt2" tx2="dk2" accent1="accent1" accent2="accent2" accent3="accent3" accent4="accent4" accent5="accent5" accent6="accent6" hlink="hlink" folHlink="folHlink"/>
  <p:hf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p:nvPr>
        </p:nvSpPr>
        <p:spPr/>
        <p:txBody>
          <a:bodyPr/>
          <a:lstStyle/>
          <a:p>
            <a:r>
              <a:rPr lang="en-US"/>
              <a:t>EECE 7201: Solid State Devices </a:t>
            </a:r>
          </a:p>
        </p:txBody>
      </p:sp>
      <p:sp>
        <p:nvSpPr>
          <p:cNvPr id="5" name="Slide Number Placeholder 4"/>
          <p:cNvSpPr>
            <a:spLocks noGrp="1"/>
          </p:cNvSpPr>
          <p:nvPr>
            <p:ph type="sldNum" sz="quarter" idx="5"/>
          </p:nvPr>
        </p:nvSpPr>
        <p:spPr/>
        <p:txBody>
          <a:bodyPr/>
          <a:lstStyle/>
          <a:p>
            <a:fld id="{F686EB0C-FA81-6244-B724-962663F9D33C}" type="slidenum">
              <a:rPr lang="en-US" smtClean="0"/>
              <a:t>2</a:t>
            </a:fld>
            <a:endParaRPr lang="en-US"/>
          </a:p>
        </p:txBody>
      </p:sp>
    </p:spTree>
    <p:extLst>
      <p:ext uri="{BB962C8B-B14F-4D97-AF65-F5344CB8AC3E}">
        <p14:creationId xmlns:p14="http://schemas.microsoft.com/office/powerpoint/2010/main" val="4274473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endParaRPr lang="en-US" dirty="0"/>
          </a:p>
        </p:txBody>
      </p:sp>
      <p:sp>
        <p:nvSpPr>
          <p:cNvPr id="4" name="Header Placeholder 3"/>
          <p:cNvSpPr>
            <a:spLocks noGrp="1"/>
          </p:cNvSpPr>
          <p:nvPr>
            <p:ph type="hdr" sz="quarter"/>
          </p:nvPr>
        </p:nvSpPr>
        <p:spPr/>
        <p:txBody>
          <a:bodyPr/>
          <a:lstStyle/>
          <a:p>
            <a:r>
              <a:rPr lang="en-US"/>
              <a:t>EECE 7201: Solid State Devices </a:t>
            </a:r>
          </a:p>
        </p:txBody>
      </p:sp>
      <p:sp>
        <p:nvSpPr>
          <p:cNvPr id="5" name="Slide Number Placeholder 4"/>
          <p:cNvSpPr>
            <a:spLocks noGrp="1"/>
          </p:cNvSpPr>
          <p:nvPr>
            <p:ph type="sldNum" sz="quarter" idx="5"/>
          </p:nvPr>
        </p:nvSpPr>
        <p:spPr/>
        <p:txBody>
          <a:bodyPr/>
          <a:lstStyle/>
          <a:p>
            <a:fld id="{F686EB0C-FA81-6244-B724-962663F9D33C}" type="slidenum">
              <a:rPr lang="en-US" smtClean="0"/>
              <a:t>3</a:t>
            </a:fld>
            <a:endParaRPr lang="en-US"/>
          </a:p>
        </p:txBody>
      </p:sp>
    </p:spTree>
    <p:extLst>
      <p:ext uri="{BB962C8B-B14F-4D97-AF65-F5344CB8AC3E}">
        <p14:creationId xmlns:p14="http://schemas.microsoft.com/office/powerpoint/2010/main" val="33857846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1" dirty="0"/>
          </a:p>
          <a:p>
            <a:endParaRPr lang="en-US" b="1" dirty="0"/>
          </a:p>
          <a:p>
            <a:endParaRPr lang="en-US" dirty="0"/>
          </a:p>
          <a:p>
            <a:endParaRPr lang="en-US" dirty="0"/>
          </a:p>
        </p:txBody>
      </p:sp>
      <p:sp>
        <p:nvSpPr>
          <p:cNvPr id="4" name="Header Placeholder 3"/>
          <p:cNvSpPr>
            <a:spLocks noGrp="1"/>
          </p:cNvSpPr>
          <p:nvPr>
            <p:ph type="hdr" sz="quarter"/>
          </p:nvPr>
        </p:nvSpPr>
        <p:spPr/>
        <p:txBody>
          <a:bodyPr/>
          <a:lstStyle/>
          <a:p>
            <a:r>
              <a:rPr lang="en-US"/>
              <a:t>EECE 7201: Solid State Devices </a:t>
            </a:r>
          </a:p>
        </p:txBody>
      </p:sp>
      <p:sp>
        <p:nvSpPr>
          <p:cNvPr id="5" name="Slide Number Placeholder 4"/>
          <p:cNvSpPr>
            <a:spLocks noGrp="1"/>
          </p:cNvSpPr>
          <p:nvPr>
            <p:ph type="sldNum" sz="quarter" idx="5"/>
          </p:nvPr>
        </p:nvSpPr>
        <p:spPr/>
        <p:txBody>
          <a:bodyPr/>
          <a:lstStyle/>
          <a:p>
            <a:fld id="{F686EB0C-FA81-6244-B724-962663F9D33C}" type="slidenum">
              <a:rPr lang="en-US" smtClean="0"/>
              <a:t>4</a:t>
            </a:fld>
            <a:endParaRPr lang="en-US"/>
          </a:p>
        </p:txBody>
      </p:sp>
    </p:spTree>
    <p:extLst>
      <p:ext uri="{BB962C8B-B14F-4D97-AF65-F5344CB8AC3E}">
        <p14:creationId xmlns:p14="http://schemas.microsoft.com/office/powerpoint/2010/main" val="325209506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p:nvPr>
        </p:nvSpPr>
        <p:spPr/>
        <p:txBody>
          <a:bodyPr/>
          <a:lstStyle/>
          <a:p>
            <a:r>
              <a:rPr lang="en-US"/>
              <a:t>EECE 7201: Solid State Devices </a:t>
            </a:r>
          </a:p>
        </p:txBody>
      </p:sp>
      <p:sp>
        <p:nvSpPr>
          <p:cNvPr id="5" name="Slide Number Placeholder 4"/>
          <p:cNvSpPr>
            <a:spLocks noGrp="1"/>
          </p:cNvSpPr>
          <p:nvPr>
            <p:ph type="sldNum" sz="quarter" idx="5"/>
          </p:nvPr>
        </p:nvSpPr>
        <p:spPr/>
        <p:txBody>
          <a:bodyPr/>
          <a:lstStyle/>
          <a:p>
            <a:fld id="{F686EB0C-FA81-6244-B724-962663F9D33C}" type="slidenum">
              <a:rPr lang="en-US" smtClean="0"/>
              <a:t>5</a:t>
            </a:fld>
            <a:endParaRPr lang="en-US"/>
          </a:p>
        </p:txBody>
      </p:sp>
    </p:spTree>
    <p:extLst>
      <p:ext uri="{BB962C8B-B14F-4D97-AF65-F5344CB8AC3E}">
        <p14:creationId xmlns:p14="http://schemas.microsoft.com/office/powerpoint/2010/main" val="228928511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a:buChar char="•"/>
            </a:pPr>
            <a:r>
              <a:rPr lang="en-US"/>
              <a:t>The role of defects and doping in 2D graphene sheets and 1D nanoribbons, Humberto Terrones, </a:t>
            </a:r>
            <a:r>
              <a:rPr lang="en-US" err="1"/>
              <a:t>Ruitao</a:t>
            </a:r>
            <a:r>
              <a:rPr lang="en-US"/>
              <a:t> </a:t>
            </a:r>
            <a:r>
              <a:rPr lang="en-US" err="1"/>
              <a:t>Lv</a:t>
            </a:r>
            <a:r>
              <a:rPr lang="en-US"/>
              <a:t>, Mauricio Terrones, and Mildred S Dresselhaus, 2012.</a:t>
            </a:r>
          </a:p>
          <a:p>
            <a:pPr marL="171450" indent="-171450">
              <a:buFont typeface="Arial"/>
              <a:buChar char="•"/>
            </a:pPr>
            <a:r>
              <a:rPr lang="en-US"/>
              <a:t>Jiang, K., Ji, J., Gong, W. </a:t>
            </a:r>
            <a:r>
              <a:rPr lang="en-US" i="1"/>
              <a:t>et al.</a:t>
            </a:r>
            <a:r>
              <a:rPr lang="en-US"/>
              <a:t> Mechanical cleavage of non-van der Waals structures towards two-dimensional crystals. </a:t>
            </a:r>
            <a:r>
              <a:rPr lang="en-US" i="1"/>
              <a:t>Nat. Synth</a:t>
            </a:r>
            <a:r>
              <a:rPr lang="en-US"/>
              <a:t> </a:t>
            </a:r>
            <a:r>
              <a:rPr lang="en-US" b="1"/>
              <a:t>2</a:t>
            </a:r>
            <a:r>
              <a:rPr lang="en-US"/>
              <a:t>, 58–66 (2023)</a:t>
            </a:r>
          </a:p>
          <a:p>
            <a:endParaRPr lang="en-US"/>
          </a:p>
        </p:txBody>
      </p:sp>
      <p:sp>
        <p:nvSpPr>
          <p:cNvPr id="4" name="Header Placeholder 3"/>
          <p:cNvSpPr>
            <a:spLocks noGrp="1"/>
          </p:cNvSpPr>
          <p:nvPr>
            <p:ph type="hdr" sz="quarter"/>
          </p:nvPr>
        </p:nvSpPr>
        <p:spPr/>
        <p:txBody>
          <a:bodyPr/>
          <a:lstStyle/>
          <a:p>
            <a:r>
              <a:rPr lang="en-US"/>
              <a:t>EECE 7201: Solid State Devices </a:t>
            </a:r>
          </a:p>
        </p:txBody>
      </p:sp>
      <p:sp>
        <p:nvSpPr>
          <p:cNvPr id="5" name="Slide Number Placeholder 4"/>
          <p:cNvSpPr>
            <a:spLocks noGrp="1"/>
          </p:cNvSpPr>
          <p:nvPr>
            <p:ph type="sldNum" sz="quarter" idx="5"/>
          </p:nvPr>
        </p:nvSpPr>
        <p:spPr/>
        <p:txBody>
          <a:bodyPr/>
          <a:lstStyle/>
          <a:p>
            <a:fld id="{F686EB0C-FA81-6244-B724-962663F9D33C}" type="slidenum">
              <a:rPr lang="en-US" smtClean="0"/>
              <a:t>6</a:t>
            </a:fld>
            <a:endParaRPr lang="en-US"/>
          </a:p>
        </p:txBody>
      </p:sp>
    </p:spTree>
    <p:extLst>
      <p:ext uri="{BB962C8B-B14F-4D97-AF65-F5344CB8AC3E}">
        <p14:creationId xmlns:p14="http://schemas.microsoft.com/office/powerpoint/2010/main" val="55844858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a:buChar char="•"/>
            </a:pPr>
            <a:r>
              <a:rPr lang="en-US" b="1" dirty="0" err="1"/>
              <a:t>Nanotomy</a:t>
            </a:r>
            <a:r>
              <a:rPr lang="en-US" b="1" dirty="0"/>
              <a:t>-based production of transferable and dispersible graphene nanostructures of controlled shape and size, </a:t>
            </a:r>
            <a:r>
              <a:rPr lang="en-US" dirty="0" err="1"/>
              <a:t>Nihar</a:t>
            </a:r>
            <a:r>
              <a:rPr lang="en-US" dirty="0"/>
              <a:t> Mohanty, David Moore, </a:t>
            </a:r>
            <a:r>
              <a:rPr lang="en-US" dirty="0" err="1"/>
              <a:t>Zhiping</a:t>
            </a:r>
            <a:r>
              <a:rPr lang="en-US" dirty="0"/>
              <a:t> Xu, T.S. </a:t>
            </a:r>
            <a:r>
              <a:rPr lang="en-US" dirty="0" err="1"/>
              <a:t>Sreeprasad</a:t>
            </a:r>
            <a:r>
              <a:rPr lang="en-US" dirty="0"/>
              <a:t>, Ashvin </a:t>
            </a:r>
            <a:r>
              <a:rPr lang="en-US" dirty="0" err="1"/>
              <a:t>Nagaraja</a:t>
            </a:r>
            <a:r>
              <a:rPr lang="en-US" dirty="0"/>
              <a:t> ,Alfredo Alexander Rodriguez &amp; Vikas Berry, 2012.</a:t>
            </a:r>
          </a:p>
          <a:p>
            <a:pPr marL="171450" indent="-171450">
              <a:buFont typeface="Arial"/>
              <a:buChar char="•"/>
            </a:pPr>
            <a:r>
              <a:rPr lang="en-US" b="1" dirty="0"/>
              <a:t>Longitudinal unzipping of carbon nanotubes to form graphene nanoribbons, </a:t>
            </a:r>
            <a:r>
              <a:rPr lang="en-US" dirty="0"/>
              <a:t>Dmitry V. </a:t>
            </a:r>
            <a:r>
              <a:rPr lang="en-US" dirty="0" err="1"/>
              <a:t>Kosynkin</a:t>
            </a:r>
            <a:r>
              <a:rPr lang="en-US" dirty="0"/>
              <a:t>, Amanda L. Higginbotham, Alexander </a:t>
            </a:r>
            <a:r>
              <a:rPr lang="en-US" dirty="0" err="1"/>
              <a:t>Sinitskii</a:t>
            </a:r>
            <a:r>
              <a:rPr lang="en-US" dirty="0"/>
              <a:t>, Jay R. </a:t>
            </a:r>
            <a:r>
              <a:rPr lang="en-US" dirty="0" err="1"/>
              <a:t>Lomeda</a:t>
            </a:r>
            <a:r>
              <a:rPr lang="en-US" dirty="0"/>
              <a:t>, </a:t>
            </a:r>
            <a:r>
              <a:rPr lang="en-US" dirty="0" err="1"/>
              <a:t>Ayrat</a:t>
            </a:r>
            <a:r>
              <a:rPr lang="en-US" dirty="0"/>
              <a:t> </a:t>
            </a:r>
            <a:r>
              <a:rPr lang="en-US" dirty="0" err="1"/>
              <a:t>Dimiev</a:t>
            </a:r>
            <a:r>
              <a:rPr lang="en-US" dirty="0"/>
              <a:t>, B. Katherine Price &amp; James M. Tour, 2009. </a:t>
            </a:r>
          </a:p>
          <a:p>
            <a:endParaRPr lang="en-US" dirty="0"/>
          </a:p>
        </p:txBody>
      </p:sp>
      <p:sp>
        <p:nvSpPr>
          <p:cNvPr id="4" name="Header Placeholder 3"/>
          <p:cNvSpPr>
            <a:spLocks noGrp="1"/>
          </p:cNvSpPr>
          <p:nvPr>
            <p:ph type="hdr" sz="quarter"/>
          </p:nvPr>
        </p:nvSpPr>
        <p:spPr/>
        <p:txBody>
          <a:bodyPr/>
          <a:lstStyle/>
          <a:p>
            <a:r>
              <a:rPr lang="en-US"/>
              <a:t>EECE 7201: Solid State Devices </a:t>
            </a:r>
          </a:p>
        </p:txBody>
      </p:sp>
      <p:sp>
        <p:nvSpPr>
          <p:cNvPr id="5" name="Slide Number Placeholder 4"/>
          <p:cNvSpPr>
            <a:spLocks noGrp="1"/>
          </p:cNvSpPr>
          <p:nvPr>
            <p:ph type="sldNum" sz="quarter" idx="5"/>
          </p:nvPr>
        </p:nvSpPr>
        <p:spPr/>
        <p:txBody>
          <a:bodyPr/>
          <a:lstStyle/>
          <a:p>
            <a:fld id="{F686EB0C-FA81-6244-B724-962663F9D33C}" type="slidenum">
              <a:rPr lang="en-US" smtClean="0"/>
              <a:t>7</a:t>
            </a:fld>
            <a:endParaRPr lang="en-US"/>
          </a:p>
        </p:txBody>
      </p:sp>
    </p:spTree>
    <p:extLst>
      <p:ext uri="{BB962C8B-B14F-4D97-AF65-F5344CB8AC3E}">
        <p14:creationId xmlns:p14="http://schemas.microsoft.com/office/powerpoint/2010/main" val="80372813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Calibri"/>
              <a:buChar char="-"/>
            </a:pPr>
            <a:r>
              <a:rPr lang="en-US"/>
              <a:t>The zigzag-edge ribbons are always metallic, while the </a:t>
            </a:r>
            <a:r>
              <a:rPr lang="en-US" b="1"/>
              <a:t>armchair-edge GNR</a:t>
            </a:r>
            <a:r>
              <a:rPr lang="en-US"/>
              <a:t> can</a:t>
            </a:r>
          </a:p>
          <a:p>
            <a:r>
              <a:rPr lang="en-US"/>
              <a:t>be</a:t>
            </a:r>
            <a:r>
              <a:rPr lang="en-US" b="1"/>
              <a:t> semiconductor</a:t>
            </a:r>
            <a:r>
              <a:rPr lang="en-US"/>
              <a:t> such that the corresponding </a:t>
            </a:r>
            <a:r>
              <a:rPr lang="en-US" b="1"/>
              <a:t>bandgap energy decreases</a:t>
            </a:r>
            <a:r>
              <a:rPr lang="en-US"/>
              <a:t> by </a:t>
            </a:r>
            <a:r>
              <a:rPr lang="en-US" b="1"/>
              <a:t>increasing</a:t>
            </a:r>
          </a:p>
          <a:p>
            <a:r>
              <a:rPr lang="en-US"/>
              <a:t>the </a:t>
            </a:r>
            <a:r>
              <a:rPr lang="en-US" b="1"/>
              <a:t>ribbon index</a:t>
            </a:r>
            <a:r>
              <a:rPr lang="en-US"/>
              <a:t> (width) as shown</a:t>
            </a:r>
          </a:p>
          <a:p>
            <a:pPr marL="171450" indent="-171450">
              <a:buFont typeface="Calibri"/>
              <a:buChar char="-"/>
            </a:pPr>
            <a:r>
              <a:rPr lang="en-US"/>
              <a:t>3p and 3p + 1 are semiconductors, whereas 3p+2 is metallic (small </a:t>
            </a:r>
            <a:r>
              <a:rPr lang="en-US" err="1"/>
              <a:t>Eg</a:t>
            </a:r>
            <a:r>
              <a:rPr lang="en-US"/>
              <a:t>)</a:t>
            </a:r>
          </a:p>
          <a:p>
            <a:pPr>
              <a:buFont typeface="Arial"/>
              <a:buChar char="•"/>
            </a:pPr>
            <a:r>
              <a:rPr lang="en-US"/>
              <a:t>The band gap can be opened by quantum confinement of GNR in one dimension but it degrades the linearity of </a:t>
            </a:r>
            <a:r>
              <a:rPr lang="en-US" err="1"/>
              <a:t>subbands</a:t>
            </a:r>
            <a:r>
              <a:rPr lang="en-US"/>
              <a:t> near</a:t>
            </a:r>
            <a:r>
              <a:rPr lang="en-US" b="1"/>
              <a:t> Dirac points.</a:t>
            </a:r>
          </a:p>
          <a:p>
            <a:pPr marL="171450" indent="-171450">
              <a:buFont typeface="Calibri"/>
              <a:buChar char="-"/>
            </a:pPr>
            <a:endParaRPr lang="en-US"/>
          </a:p>
          <a:p>
            <a:endParaRPr lang="en-US"/>
          </a:p>
        </p:txBody>
      </p:sp>
      <p:sp>
        <p:nvSpPr>
          <p:cNvPr id="4" name="Header Placeholder 3"/>
          <p:cNvSpPr>
            <a:spLocks noGrp="1"/>
          </p:cNvSpPr>
          <p:nvPr>
            <p:ph type="hdr" sz="quarter"/>
          </p:nvPr>
        </p:nvSpPr>
        <p:spPr/>
        <p:txBody>
          <a:bodyPr/>
          <a:lstStyle/>
          <a:p>
            <a:r>
              <a:rPr lang="en-US"/>
              <a:t>EECE 7201: Solid State Devices </a:t>
            </a:r>
          </a:p>
        </p:txBody>
      </p:sp>
      <p:sp>
        <p:nvSpPr>
          <p:cNvPr id="5" name="Slide Number Placeholder 4"/>
          <p:cNvSpPr>
            <a:spLocks noGrp="1"/>
          </p:cNvSpPr>
          <p:nvPr>
            <p:ph type="sldNum" sz="quarter" idx="5"/>
          </p:nvPr>
        </p:nvSpPr>
        <p:spPr/>
        <p:txBody>
          <a:bodyPr/>
          <a:lstStyle/>
          <a:p>
            <a:fld id="{F686EB0C-FA81-6244-B724-962663F9D33C}" type="slidenum">
              <a:rPr lang="en-US" smtClean="0"/>
              <a:t>8</a:t>
            </a:fld>
            <a:endParaRPr lang="en-US"/>
          </a:p>
        </p:txBody>
      </p:sp>
    </p:spTree>
    <p:extLst>
      <p:ext uri="{BB962C8B-B14F-4D97-AF65-F5344CB8AC3E}">
        <p14:creationId xmlns:p14="http://schemas.microsoft.com/office/powerpoint/2010/main" val="182558338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Calibri"/>
              <a:buChar char="-"/>
            </a:pPr>
            <a:r>
              <a:rPr lang="en-US" dirty="0"/>
              <a:t>The zigzag-edge ribbons are always metallic, while the </a:t>
            </a:r>
            <a:r>
              <a:rPr lang="en-US" b="1" dirty="0"/>
              <a:t>armchair-edge GNR</a:t>
            </a:r>
            <a:r>
              <a:rPr lang="en-US" dirty="0"/>
              <a:t> can</a:t>
            </a:r>
          </a:p>
          <a:p>
            <a:r>
              <a:rPr lang="en-US" dirty="0"/>
              <a:t>be</a:t>
            </a:r>
            <a:r>
              <a:rPr lang="en-US" b="1" dirty="0"/>
              <a:t> semiconductor</a:t>
            </a:r>
            <a:r>
              <a:rPr lang="en-US" dirty="0"/>
              <a:t> such that the corresponding </a:t>
            </a:r>
            <a:r>
              <a:rPr lang="en-US" b="1" dirty="0"/>
              <a:t>bandgap energy decreases</a:t>
            </a:r>
            <a:r>
              <a:rPr lang="en-US" dirty="0"/>
              <a:t> by </a:t>
            </a:r>
            <a:r>
              <a:rPr lang="en-US" b="1" dirty="0"/>
              <a:t>increasing</a:t>
            </a:r>
          </a:p>
          <a:p>
            <a:r>
              <a:rPr lang="en-US" dirty="0"/>
              <a:t>the </a:t>
            </a:r>
            <a:r>
              <a:rPr lang="en-US" b="1" dirty="0"/>
              <a:t>ribbon index</a:t>
            </a:r>
            <a:r>
              <a:rPr lang="en-US" dirty="0"/>
              <a:t> (width) as shown</a:t>
            </a:r>
          </a:p>
          <a:p>
            <a:pPr marL="171450" indent="-171450">
              <a:buFont typeface="Calibri"/>
              <a:buChar char="-"/>
            </a:pPr>
            <a:r>
              <a:rPr lang="en-US" dirty="0"/>
              <a:t>3p and 3p + 1 are semiconductors, whereas 3p+2 is metallic (small </a:t>
            </a:r>
            <a:r>
              <a:rPr lang="en-US" dirty="0" err="1"/>
              <a:t>Eg</a:t>
            </a:r>
            <a:r>
              <a:rPr lang="en-US" dirty="0"/>
              <a:t>)</a:t>
            </a:r>
          </a:p>
          <a:p>
            <a:pPr>
              <a:buFont typeface="Arial"/>
              <a:buChar char="•"/>
            </a:pPr>
            <a:r>
              <a:rPr lang="en-US" dirty="0"/>
              <a:t>The band gap can be </a:t>
            </a:r>
            <a:r>
              <a:rPr lang="en-US" dirty="0" err="1"/>
              <a:t>openedby</a:t>
            </a:r>
            <a:r>
              <a:rPr lang="en-US" dirty="0"/>
              <a:t> quantum confinement of GNR in one dimension but it degrades the linearity of </a:t>
            </a:r>
            <a:r>
              <a:rPr lang="en-US" dirty="0" err="1"/>
              <a:t>subbands</a:t>
            </a:r>
            <a:r>
              <a:rPr lang="en-US" dirty="0"/>
              <a:t> near</a:t>
            </a:r>
            <a:r>
              <a:rPr lang="en-US" b="1" dirty="0"/>
              <a:t> Dirac points.</a:t>
            </a:r>
          </a:p>
          <a:p>
            <a:pPr marL="171450" indent="-171450">
              <a:buFont typeface="Calibri"/>
              <a:buChar char="-"/>
            </a:pPr>
            <a:endParaRPr lang="en-US" dirty="0"/>
          </a:p>
          <a:p>
            <a:endParaRPr lang="en-US" dirty="0"/>
          </a:p>
        </p:txBody>
      </p:sp>
      <p:sp>
        <p:nvSpPr>
          <p:cNvPr id="4" name="Header Placeholder 3"/>
          <p:cNvSpPr>
            <a:spLocks noGrp="1"/>
          </p:cNvSpPr>
          <p:nvPr>
            <p:ph type="hdr" sz="quarter"/>
          </p:nvPr>
        </p:nvSpPr>
        <p:spPr/>
        <p:txBody>
          <a:bodyPr/>
          <a:lstStyle/>
          <a:p>
            <a:r>
              <a:rPr lang="en-US"/>
              <a:t>EECE 7201: Solid State Devices </a:t>
            </a:r>
          </a:p>
        </p:txBody>
      </p:sp>
      <p:sp>
        <p:nvSpPr>
          <p:cNvPr id="5" name="Slide Number Placeholder 4"/>
          <p:cNvSpPr>
            <a:spLocks noGrp="1"/>
          </p:cNvSpPr>
          <p:nvPr>
            <p:ph type="sldNum" sz="quarter" idx="5"/>
          </p:nvPr>
        </p:nvSpPr>
        <p:spPr/>
        <p:txBody>
          <a:bodyPr/>
          <a:lstStyle/>
          <a:p>
            <a:fld id="{F686EB0C-FA81-6244-B724-962663F9D33C}" type="slidenum">
              <a:rPr lang="en-US" smtClean="0"/>
              <a:t>9</a:t>
            </a:fld>
            <a:endParaRPr lang="en-US"/>
          </a:p>
        </p:txBody>
      </p:sp>
    </p:spTree>
    <p:extLst>
      <p:ext uri="{BB962C8B-B14F-4D97-AF65-F5344CB8AC3E}">
        <p14:creationId xmlns:p14="http://schemas.microsoft.com/office/powerpoint/2010/main" val="5313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4CE0F4-964F-6F54-CD6D-9F018416BF0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6F06F0C-F823-8E26-3884-D13547ECDB9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81CE658-9C11-BBB4-38FC-102FA1E7C08C}"/>
              </a:ext>
            </a:extLst>
          </p:cNvPr>
          <p:cNvSpPr>
            <a:spLocks noGrp="1"/>
          </p:cNvSpPr>
          <p:nvPr>
            <p:ph type="dt" sz="half" idx="10"/>
          </p:nvPr>
        </p:nvSpPr>
        <p:spPr/>
        <p:txBody>
          <a:bodyPr/>
          <a:lstStyle/>
          <a:p>
            <a:fld id="{EB4C2046-025D-45B5-8427-FEFF7E4D8539}" type="datetime1">
              <a:rPr lang="en-US" smtClean="0"/>
              <a:t>12/3/24</a:t>
            </a:fld>
            <a:endParaRPr lang="en-US"/>
          </a:p>
        </p:txBody>
      </p:sp>
      <p:sp>
        <p:nvSpPr>
          <p:cNvPr id="5" name="Footer Placeholder 4">
            <a:extLst>
              <a:ext uri="{FF2B5EF4-FFF2-40B4-BE49-F238E27FC236}">
                <a16:creationId xmlns:a16="http://schemas.microsoft.com/office/drawing/2014/main" id="{7F5C0886-CE2B-B178-27CD-8CA0234F5A2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E0DD2DD-4C27-13EC-C01E-4D3EA7E11F90}"/>
              </a:ext>
            </a:extLst>
          </p:cNvPr>
          <p:cNvSpPr>
            <a:spLocks noGrp="1"/>
          </p:cNvSpPr>
          <p:nvPr>
            <p:ph type="sldNum" sz="quarter" idx="12"/>
          </p:nvPr>
        </p:nvSpPr>
        <p:spPr/>
        <p:txBody>
          <a:bodyPr/>
          <a:lstStyle/>
          <a:p>
            <a:fld id="{A2B8AF6F-4499-469B-A785-387A354EAEF5}" type="slidenum">
              <a:rPr lang="en-US" smtClean="0"/>
              <a:t>‹#›</a:t>
            </a:fld>
            <a:endParaRPr lang="en-US"/>
          </a:p>
        </p:txBody>
      </p:sp>
      <p:pic>
        <p:nvPicPr>
          <p:cNvPr id="7" name="Picture 6">
            <a:extLst>
              <a:ext uri="{FF2B5EF4-FFF2-40B4-BE49-F238E27FC236}">
                <a16:creationId xmlns:a16="http://schemas.microsoft.com/office/drawing/2014/main" id="{5E8F7336-75ED-5DE7-132F-9B9D8907AEDE}"/>
              </a:ext>
            </a:extLst>
          </p:cNvPr>
          <p:cNvPicPr>
            <a:picLocks noChangeAspect="1"/>
          </p:cNvPicPr>
          <p:nvPr userDrawn="1"/>
        </p:nvPicPr>
        <p:blipFill>
          <a:blip r:embed="rId2"/>
          <a:stretch>
            <a:fillRect/>
          </a:stretch>
        </p:blipFill>
        <p:spPr>
          <a:xfrm>
            <a:off x="10874493" y="92375"/>
            <a:ext cx="1280160" cy="474134"/>
          </a:xfrm>
          <a:prstGeom prst="rect">
            <a:avLst/>
          </a:prstGeom>
        </p:spPr>
      </p:pic>
      <p:sp>
        <p:nvSpPr>
          <p:cNvPr id="8" name="TextBox 7">
            <a:extLst>
              <a:ext uri="{FF2B5EF4-FFF2-40B4-BE49-F238E27FC236}">
                <a16:creationId xmlns:a16="http://schemas.microsoft.com/office/drawing/2014/main" id="{2E165458-051A-D787-2555-7D3DAEE0FB57}"/>
              </a:ext>
            </a:extLst>
          </p:cNvPr>
          <p:cNvSpPr txBox="1"/>
          <p:nvPr userDrawn="1"/>
        </p:nvSpPr>
        <p:spPr>
          <a:xfrm>
            <a:off x="50240" y="50240"/>
            <a:ext cx="1911614" cy="27699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TH" sz="1200">
                <a:solidFill>
                  <a:schemeClr val="tx1">
                    <a:lumMod val="50000"/>
                    <a:lumOff val="50000"/>
                  </a:schemeClr>
                </a:solidFill>
                <a:latin typeface="Calibri" panose="020F0502020204030204" pitchFamily="34" charset="0"/>
                <a:cs typeface="Calibri" panose="020F0502020204030204" pitchFamily="34" charset="0"/>
              </a:rPr>
              <a:t>EECE7353 Final Project | </a:t>
            </a:r>
            <a:fld id="{A2B8AF6F-4499-469B-A785-387A354EAEF5}" type="slidenum">
              <a:rPr lang="en-US" sz="1200" smtClean="0">
                <a:solidFill>
                  <a:schemeClr val="tx1">
                    <a:lumMod val="50000"/>
                    <a:lumOff val="50000"/>
                  </a:schemeClr>
                </a:solidFill>
              </a:rPr>
              <a:pPr marL="0" marR="0" lvl="0" indent="0" algn="l" defTabSz="914400" rtl="0" eaLnBrk="1" fontAlgn="auto" latinLnBrk="0" hangingPunct="1">
                <a:lnSpc>
                  <a:spcPct val="100000"/>
                </a:lnSpc>
                <a:spcBef>
                  <a:spcPts val="0"/>
                </a:spcBef>
                <a:spcAft>
                  <a:spcPts val="0"/>
                </a:spcAft>
                <a:buClrTx/>
                <a:buSzTx/>
                <a:buFontTx/>
                <a:buNone/>
                <a:tabLst/>
                <a:defRPr/>
              </a:pPr>
              <a:t>‹#›</a:t>
            </a:fld>
            <a:endParaRPr lang="en-US" sz="1200">
              <a:solidFill>
                <a:schemeClr val="tx1">
                  <a:lumMod val="50000"/>
                  <a:lumOff val="50000"/>
                </a:schemeClr>
              </a:solidFill>
            </a:endParaRPr>
          </a:p>
        </p:txBody>
      </p:sp>
    </p:spTree>
    <p:extLst>
      <p:ext uri="{BB962C8B-B14F-4D97-AF65-F5344CB8AC3E}">
        <p14:creationId xmlns:p14="http://schemas.microsoft.com/office/powerpoint/2010/main" val="11406349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65B1BA-AF8F-2997-435F-CE3060C9482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FED35B76-1289-0A9D-D7A1-CC50E0D30D4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FE08340F-1BAF-AFE0-E4F4-9E1D7038A566}"/>
              </a:ext>
            </a:extLst>
          </p:cNvPr>
          <p:cNvSpPr>
            <a:spLocks noGrp="1"/>
          </p:cNvSpPr>
          <p:nvPr>
            <p:ph type="dt" sz="half" idx="10"/>
          </p:nvPr>
        </p:nvSpPr>
        <p:spPr/>
        <p:txBody>
          <a:bodyPr/>
          <a:lstStyle/>
          <a:p>
            <a:fld id="{3F38C66B-8739-473E-981C-4E648B142C24}" type="datetime1">
              <a:rPr lang="en-US" smtClean="0"/>
              <a:t>12/3/24</a:t>
            </a:fld>
            <a:endParaRPr lang="en-US"/>
          </a:p>
        </p:txBody>
      </p:sp>
      <p:sp>
        <p:nvSpPr>
          <p:cNvPr id="5" name="Footer Placeholder 4">
            <a:extLst>
              <a:ext uri="{FF2B5EF4-FFF2-40B4-BE49-F238E27FC236}">
                <a16:creationId xmlns:a16="http://schemas.microsoft.com/office/drawing/2014/main" id="{7E39A130-F8D4-D456-87B9-F529D1789EE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55774A4-B774-CD87-6E44-F5F60767E9A4}"/>
              </a:ext>
            </a:extLst>
          </p:cNvPr>
          <p:cNvSpPr>
            <a:spLocks noGrp="1"/>
          </p:cNvSpPr>
          <p:nvPr>
            <p:ph type="sldNum" sz="quarter" idx="12"/>
          </p:nvPr>
        </p:nvSpPr>
        <p:spPr/>
        <p:txBody>
          <a:bodyPr/>
          <a:lstStyle/>
          <a:p>
            <a:fld id="{A2B8AF6F-4499-469B-A785-387A354EAEF5}" type="slidenum">
              <a:rPr lang="en-US" smtClean="0"/>
              <a:t>‹#›</a:t>
            </a:fld>
            <a:endParaRPr lang="en-US"/>
          </a:p>
        </p:txBody>
      </p:sp>
      <p:pic>
        <p:nvPicPr>
          <p:cNvPr id="7" name="Picture 6">
            <a:extLst>
              <a:ext uri="{FF2B5EF4-FFF2-40B4-BE49-F238E27FC236}">
                <a16:creationId xmlns:a16="http://schemas.microsoft.com/office/drawing/2014/main" id="{62978C9C-BE65-63B7-172E-F943522C27A3}"/>
              </a:ext>
            </a:extLst>
          </p:cNvPr>
          <p:cNvPicPr>
            <a:picLocks noChangeAspect="1"/>
          </p:cNvPicPr>
          <p:nvPr userDrawn="1"/>
        </p:nvPicPr>
        <p:blipFill>
          <a:blip r:embed="rId2"/>
          <a:stretch>
            <a:fillRect/>
          </a:stretch>
        </p:blipFill>
        <p:spPr>
          <a:xfrm>
            <a:off x="10874493" y="92375"/>
            <a:ext cx="1280160" cy="474134"/>
          </a:xfrm>
          <a:prstGeom prst="rect">
            <a:avLst/>
          </a:prstGeom>
        </p:spPr>
      </p:pic>
    </p:spTree>
    <p:extLst>
      <p:ext uri="{BB962C8B-B14F-4D97-AF65-F5344CB8AC3E}">
        <p14:creationId xmlns:p14="http://schemas.microsoft.com/office/powerpoint/2010/main" val="412602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457200" y="1420283"/>
            <a:ext cx="5181600" cy="980017"/>
          </a:xfrm>
        </p:spPr>
        <p:txBody>
          <a:bodyPr/>
          <a:lstStyle/>
          <a:p>
            <a:r>
              <a:rPr lang="en-US"/>
              <a:t>Click to edit Master title style</a:t>
            </a:r>
          </a:p>
        </p:txBody>
      </p:sp>
      <p:sp>
        <p:nvSpPr>
          <p:cNvPr id="3" name="Subtitle 2"/>
          <p:cNvSpPr>
            <a:spLocks noGrp="1"/>
          </p:cNvSpPr>
          <p:nvPr>
            <p:ph type="subTitle" idx="1"/>
          </p:nvPr>
        </p:nvSpPr>
        <p:spPr>
          <a:xfrm>
            <a:off x="914400" y="2590800"/>
            <a:ext cx="4267200" cy="1168400"/>
          </a:xfrm>
        </p:spPr>
        <p:txBody>
          <a:bodyPr/>
          <a:lstStyle>
            <a:lvl1pPr marL="0" indent="0" algn="ctr">
              <a:buNone/>
              <a:defRPr>
                <a:solidFill>
                  <a:schemeClr val="tx1">
                    <a:tint val="75000"/>
                  </a:schemeClr>
                </a:solidFill>
              </a:defRPr>
            </a:lvl1pPr>
            <a:lvl2pPr marL="304815" indent="0" algn="ctr">
              <a:buNone/>
              <a:defRPr>
                <a:solidFill>
                  <a:schemeClr val="tx1">
                    <a:tint val="75000"/>
                  </a:schemeClr>
                </a:solidFill>
              </a:defRPr>
            </a:lvl2pPr>
            <a:lvl3pPr marL="609630" indent="0" algn="ctr">
              <a:buNone/>
              <a:defRPr>
                <a:solidFill>
                  <a:schemeClr val="tx1">
                    <a:tint val="75000"/>
                  </a:schemeClr>
                </a:solidFill>
              </a:defRPr>
            </a:lvl3pPr>
            <a:lvl4pPr marL="914446" indent="0" algn="ctr">
              <a:buNone/>
              <a:defRPr>
                <a:solidFill>
                  <a:schemeClr val="tx1">
                    <a:tint val="75000"/>
                  </a:schemeClr>
                </a:solidFill>
              </a:defRPr>
            </a:lvl4pPr>
            <a:lvl5pPr marL="1219261" indent="0" algn="ctr">
              <a:buNone/>
              <a:defRPr>
                <a:solidFill>
                  <a:schemeClr val="tx1">
                    <a:tint val="75000"/>
                  </a:schemeClr>
                </a:solidFill>
              </a:defRPr>
            </a:lvl5pPr>
            <a:lvl6pPr marL="1524076" indent="0" algn="ctr">
              <a:buNone/>
              <a:defRPr>
                <a:solidFill>
                  <a:schemeClr val="tx1">
                    <a:tint val="75000"/>
                  </a:schemeClr>
                </a:solidFill>
              </a:defRPr>
            </a:lvl6pPr>
            <a:lvl7pPr marL="1828891" indent="0" algn="ctr">
              <a:buNone/>
              <a:defRPr>
                <a:solidFill>
                  <a:schemeClr val="tx1">
                    <a:tint val="75000"/>
                  </a:schemeClr>
                </a:solidFill>
              </a:defRPr>
            </a:lvl7pPr>
            <a:lvl8pPr marL="2133707" indent="0" algn="ctr">
              <a:buNone/>
              <a:defRPr>
                <a:solidFill>
                  <a:schemeClr val="tx1">
                    <a:tint val="75000"/>
                  </a:schemeClr>
                </a:solidFill>
              </a:defRPr>
            </a:lvl8pPr>
            <a:lvl9pPr marL="2438522"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12/3/24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41237240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12/3/24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5641009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481542" y="2937934"/>
            <a:ext cx="5181600" cy="908050"/>
          </a:xfrm>
        </p:spPr>
        <p:txBody>
          <a:bodyPr anchor="t"/>
          <a:lstStyle>
            <a:lvl1pPr algn="l">
              <a:defRPr sz="2667" b="1" cap="all"/>
            </a:lvl1pPr>
          </a:lstStyle>
          <a:p>
            <a:r>
              <a:rPr lang="en-US"/>
              <a:t>Click to edit Master title style</a:t>
            </a:r>
          </a:p>
        </p:txBody>
      </p:sp>
      <p:sp>
        <p:nvSpPr>
          <p:cNvPr id="3" name="Text Placeholder 2"/>
          <p:cNvSpPr>
            <a:spLocks noGrp="1"/>
          </p:cNvSpPr>
          <p:nvPr>
            <p:ph type="body" idx="1"/>
          </p:nvPr>
        </p:nvSpPr>
        <p:spPr>
          <a:xfrm>
            <a:off x="481542" y="1937809"/>
            <a:ext cx="5181600" cy="1000125"/>
          </a:xfrm>
        </p:spPr>
        <p:txBody>
          <a:bodyPr anchor="b"/>
          <a:lstStyle>
            <a:lvl1pPr marL="0" indent="0">
              <a:buNone/>
              <a:defRPr sz="1333">
                <a:solidFill>
                  <a:schemeClr val="tx1">
                    <a:tint val="75000"/>
                  </a:schemeClr>
                </a:solidFill>
              </a:defRPr>
            </a:lvl1pPr>
            <a:lvl2pPr marL="304815" indent="0">
              <a:buNone/>
              <a:defRPr sz="1200">
                <a:solidFill>
                  <a:schemeClr val="tx1">
                    <a:tint val="75000"/>
                  </a:schemeClr>
                </a:solidFill>
              </a:defRPr>
            </a:lvl2pPr>
            <a:lvl3pPr marL="609630" indent="0">
              <a:buNone/>
              <a:defRPr sz="1067">
                <a:solidFill>
                  <a:schemeClr val="tx1">
                    <a:tint val="75000"/>
                  </a:schemeClr>
                </a:solidFill>
              </a:defRPr>
            </a:lvl3pPr>
            <a:lvl4pPr marL="914446" indent="0">
              <a:buNone/>
              <a:defRPr sz="933">
                <a:solidFill>
                  <a:schemeClr val="tx1">
                    <a:tint val="75000"/>
                  </a:schemeClr>
                </a:solidFill>
              </a:defRPr>
            </a:lvl4pPr>
            <a:lvl5pPr marL="1219261" indent="0">
              <a:buNone/>
              <a:defRPr sz="933">
                <a:solidFill>
                  <a:schemeClr val="tx1">
                    <a:tint val="75000"/>
                  </a:schemeClr>
                </a:solidFill>
              </a:defRPr>
            </a:lvl5pPr>
            <a:lvl6pPr marL="1524076" indent="0">
              <a:buNone/>
              <a:defRPr sz="933">
                <a:solidFill>
                  <a:schemeClr val="tx1">
                    <a:tint val="75000"/>
                  </a:schemeClr>
                </a:solidFill>
              </a:defRPr>
            </a:lvl6pPr>
            <a:lvl7pPr marL="1828891" indent="0">
              <a:buNone/>
              <a:defRPr sz="933">
                <a:solidFill>
                  <a:schemeClr val="tx1">
                    <a:tint val="75000"/>
                  </a:schemeClr>
                </a:solidFill>
              </a:defRPr>
            </a:lvl7pPr>
            <a:lvl8pPr marL="2133707" indent="0">
              <a:buNone/>
              <a:defRPr sz="933">
                <a:solidFill>
                  <a:schemeClr val="tx1">
                    <a:tint val="75000"/>
                  </a:schemeClr>
                </a:solidFill>
              </a:defRPr>
            </a:lvl8pPr>
            <a:lvl9pPr marL="2438522" indent="0">
              <a:buNone/>
              <a:defRPr sz="933">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12/3/24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00169142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304800" y="1066800"/>
            <a:ext cx="2692400" cy="3017309"/>
          </a:xfrm>
        </p:spPr>
        <p:txBody>
          <a:bodyPr/>
          <a:lstStyle>
            <a:lvl1pPr>
              <a:defRPr sz="1867"/>
            </a:lvl1pPr>
            <a:lvl2pPr>
              <a:defRPr sz="1600"/>
            </a:lvl2pPr>
            <a:lvl3pPr>
              <a:defRPr sz="1333"/>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3098800" y="1066800"/>
            <a:ext cx="2692400" cy="3017309"/>
          </a:xfrm>
        </p:spPr>
        <p:txBody>
          <a:bodyPr/>
          <a:lstStyle>
            <a:lvl1pPr>
              <a:defRPr sz="1867"/>
            </a:lvl1pPr>
            <a:lvl2pPr>
              <a:defRPr sz="1600"/>
            </a:lvl2pPr>
            <a:lvl3pPr>
              <a:defRPr sz="1333"/>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12/3/24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52224259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304800" y="1023409"/>
            <a:ext cx="2693459" cy="426508"/>
          </a:xfrm>
        </p:spPr>
        <p:txBody>
          <a:bodyPr anchor="b"/>
          <a:lstStyle>
            <a:lvl1pPr marL="0" indent="0">
              <a:buNone/>
              <a:defRPr sz="1600" b="1"/>
            </a:lvl1pPr>
            <a:lvl2pPr marL="304815" indent="0">
              <a:buNone/>
              <a:defRPr sz="1333" b="1"/>
            </a:lvl2pPr>
            <a:lvl3pPr marL="609630" indent="0">
              <a:buNone/>
              <a:defRPr sz="1200" b="1"/>
            </a:lvl3pPr>
            <a:lvl4pPr marL="914446" indent="0">
              <a:buNone/>
              <a:defRPr sz="1067" b="1"/>
            </a:lvl4pPr>
            <a:lvl5pPr marL="1219261" indent="0">
              <a:buNone/>
              <a:defRPr sz="1067" b="1"/>
            </a:lvl5pPr>
            <a:lvl6pPr marL="1524076" indent="0">
              <a:buNone/>
              <a:defRPr sz="1067" b="1"/>
            </a:lvl6pPr>
            <a:lvl7pPr marL="1828891" indent="0">
              <a:buNone/>
              <a:defRPr sz="1067" b="1"/>
            </a:lvl7pPr>
            <a:lvl8pPr marL="2133707" indent="0">
              <a:buNone/>
              <a:defRPr sz="1067" b="1"/>
            </a:lvl8pPr>
            <a:lvl9pPr marL="2438522" indent="0">
              <a:buNone/>
              <a:defRPr sz="1067" b="1"/>
            </a:lvl9pPr>
          </a:lstStyle>
          <a:p>
            <a:pPr lvl="0"/>
            <a:r>
              <a:rPr lang="en-US"/>
              <a:t>Click to edit Master text styles</a:t>
            </a:r>
          </a:p>
        </p:txBody>
      </p:sp>
      <p:sp>
        <p:nvSpPr>
          <p:cNvPr id="4" name="Content Placeholder 3"/>
          <p:cNvSpPr>
            <a:spLocks noGrp="1"/>
          </p:cNvSpPr>
          <p:nvPr>
            <p:ph sz="half" idx="2"/>
          </p:nvPr>
        </p:nvSpPr>
        <p:spPr>
          <a:xfrm>
            <a:off x="304800" y="1449917"/>
            <a:ext cx="2693459" cy="2634192"/>
          </a:xfrm>
        </p:spPr>
        <p:txBody>
          <a:bodyPr/>
          <a:lstStyle>
            <a:lvl1pPr>
              <a:defRPr sz="1600"/>
            </a:lvl1pPr>
            <a:lvl2pPr>
              <a:defRPr sz="1333"/>
            </a:lvl2pPr>
            <a:lvl3pPr>
              <a:defRPr sz="1200"/>
            </a:lvl3pPr>
            <a:lvl4pPr>
              <a:defRPr sz="1067"/>
            </a:lvl4pPr>
            <a:lvl5pPr>
              <a:defRPr sz="1067"/>
            </a:lvl5pPr>
            <a:lvl6pPr>
              <a:defRPr sz="1067"/>
            </a:lvl6pPr>
            <a:lvl7pPr>
              <a:defRPr sz="1067"/>
            </a:lvl7pPr>
            <a:lvl8pPr>
              <a:defRPr sz="1067"/>
            </a:lvl8pPr>
            <a:lvl9pPr>
              <a:defRPr sz="1067"/>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3096684" y="1023409"/>
            <a:ext cx="2694517" cy="426508"/>
          </a:xfrm>
        </p:spPr>
        <p:txBody>
          <a:bodyPr anchor="b"/>
          <a:lstStyle>
            <a:lvl1pPr marL="0" indent="0">
              <a:buNone/>
              <a:defRPr sz="1600" b="1"/>
            </a:lvl1pPr>
            <a:lvl2pPr marL="304815" indent="0">
              <a:buNone/>
              <a:defRPr sz="1333" b="1"/>
            </a:lvl2pPr>
            <a:lvl3pPr marL="609630" indent="0">
              <a:buNone/>
              <a:defRPr sz="1200" b="1"/>
            </a:lvl3pPr>
            <a:lvl4pPr marL="914446" indent="0">
              <a:buNone/>
              <a:defRPr sz="1067" b="1"/>
            </a:lvl4pPr>
            <a:lvl5pPr marL="1219261" indent="0">
              <a:buNone/>
              <a:defRPr sz="1067" b="1"/>
            </a:lvl5pPr>
            <a:lvl6pPr marL="1524076" indent="0">
              <a:buNone/>
              <a:defRPr sz="1067" b="1"/>
            </a:lvl6pPr>
            <a:lvl7pPr marL="1828891" indent="0">
              <a:buNone/>
              <a:defRPr sz="1067" b="1"/>
            </a:lvl7pPr>
            <a:lvl8pPr marL="2133707" indent="0">
              <a:buNone/>
              <a:defRPr sz="1067" b="1"/>
            </a:lvl8pPr>
            <a:lvl9pPr marL="2438522" indent="0">
              <a:buNone/>
              <a:defRPr sz="1067" b="1"/>
            </a:lvl9pPr>
          </a:lstStyle>
          <a:p>
            <a:pPr lvl="0"/>
            <a:r>
              <a:rPr lang="en-US"/>
              <a:t>Click to edit Master text styles</a:t>
            </a:r>
          </a:p>
        </p:txBody>
      </p:sp>
      <p:sp>
        <p:nvSpPr>
          <p:cNvPr id="6" name="Content Placeholder 5"/>
          <p:cNvSpPr>
            <a:spLocks noGrp="1"/>
          </p:cNvSpPr>
          <p:nvPr>
            <p:ph sz="quarter" idx="4"/>
          </p:nvPr>
        </p:nvSpPr>
        <p:spPr>
          <a:xfrm>
            <a:off x="3096684" y="1449917"/>
            <a:ext cx="2694517" cy="2634192"/>
          </a:xfrm>
        </p:spPr>
        <p:txBody>
          <a:bodyPr/>
          <a:lstStyle>
            <a:lvl1pPr>
              <a:defRPr sz="1600"/>
            </a:lvl1pPr>
            <a:lvl2pPr>
              <a:defRPr sz="1333"/>
            </a:lvl2pPr>
            <a:lvl3pPr>
              <a:defRPr sz="1200"/>
            </a:lvl3pPr>
            <a:lvl4pPr>
              <a:defRPr sz="1067"/>
            </a:lvl4pPr>
            <a:lvl5pPr>
              <a:defRPr sz="1067"/>
            </a:lvl5pPr>
            <a:lvl6pPr>
              <a:defRPr sz="1067"/>
            </a:lvl6pPr>
            <a:lvl7pPr>
              <a:defRPr sz="1067"/>
            </a:lvl7pPr>
            <a:lvl8pPr>
              <a:defRPr sz="1067"/>
            </a:lvl8pPr>
            <a:lvl9pPr>
              <a:defRPr sz="1067"/>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12/3/24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76286074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12/3/24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7382826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12/3/24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3991191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04800" y="182033"/>
            <a:ext cx="2005542" cy="774700"/>
          </a:xfrm>
        </p:spPr>
        <p:txBody>
          <a:bodyPr anchor="b"/>
          <a:lstStyle>
            <a:lvl1pPr algn="l">
              <a:defRPr sz="1333" b="1"/>
            </a:lvl1pPr>
          </a:lstStyle>
          <a:p>
            <a:r>
              <a:rPr lang="en-US"/>
              <a:t>Click to edit Master title style</a:t>
            </a:r>
          </a:p>
        </p:txBody>
      </p:sp>
      <p:sp>
        <p:nvSpPr>
          <p:cNvPr id="3" name="Content Placeholder 2"/>
          <p:cNvSpPr>
            <a:spLocks noGrp="1"/>
          </p:cNvSpPr>
          <p:nvPr>
            <p:ph idx="1"/>
          </p:nvPr>
        </p:nvSpPr>
        <p:spPr>
          <a:xfrm>
            <a:off x="2383367" y="182034"/>
            <a:ext cx="3407833" cy="3902075"/>
          </a:xfrm>
        </p:spPr>
        <p:txBody>
          <a:bodyPr/>
          <a:lstStyle>
            <a:lvl1pPr>
              <a:defRPr sz="2133"/>
            </a:lvl1pPr>
            <a:lvl2pPr>
              <a:defRPr sz="1867"/>
            </a:lvl2pPr>
            <a:lvl3pPr>
              <a:defRPr sz="1600"/>
            </a:lvl3pPr>
            <a:lvl4pPr>
              <a:defRPr sz="1333"/>
            </a:lvl4pPr>
            <a:lvl5pPr>
              <a:defRPr sz="1333"/>
            </a:lvl5pPr>
            <a:lvl6pPr>
              <a:defRPr sz="1333"/>
            </a:lvl6pPr>
            <a:lvl7pPr>
              <a:defRPr sz="1333"/>
            </a:lvl7pPr>
            <a:lvl8pPr>
              <a:defRPr sz="1333"/>
            </a:lvl8pPr>
            <a:lvl9pPr>
              <a:defRPr sz="133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304800" y="956734"/>
            <a:ext cx="2005542" cy="3127375"/>
          </a:xfrm>
        </p:spPr>
        <p:txBody>
          <a:bodyPr/>
          <a:lstStyle>
            <a:lvl1pPr marL="0" indent="0">
              <a:buNone/>
              <a:defRPr sz="933"/>
            </a:lvl1pPr>
            <a:lvl2pPr marL="304815" indent="0">
              <a:buNone/>
              <a:defRPr sz="800"/>
            </a:lvl2pPr>
            <a:lvl3pPr marL="609630" indent="0">
              <a:buNone/>
              <a:defRPr sz="667"/>
            </a:lvl3pPr>
            <a:lvl4pPr marL="914446" indent="0">
              <a:buNone/>
              <a:defRPr sz="600"/>
            </a:lvl4pPr>
            <a:lvl5pPr marL="1219261" indent="0">
              <a:buNone/>
              <a:defRPr sz="600"/>
            </a:lvl5pPr>
            <a:lvl6pPr marL="1524076" indent="0">
              <a:buNone/>
              <a:defRPr sz="600"/>
            </a:lvl6pPr>
            <a:lvl7pPr marL="1828891" indent="0">
              <a:buNone/>
              <a:defRPr sz="600"/>
            </a:lvl7pPr>
            <a:lvl8pPr marL="2133707" indent="0">
              <a:buNone/>
              <a:defRPr sz="600"/>
            </a:lvl8pPr>
            <a:lvl9pPr marL="2438522" indent="0">
              <a:buNone/>
              <a:defRPr sz="6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12/3/24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42175751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94859" y="3200400"/>
            <a:ext cx="3657600" cy="377825"/>
          </a:xfrm>
        </p:spPr>
        <p:txBody>
          <a:bodyPr anchor="b"/>
          <a:lstStyle>
            <a:lvl1pPr algn="l">
              <a:defRPr sz="1333" b="1"/>
            </a:lvl1pPr>
          </a:lstStyle>
          <a:p>
            <a:r>
              <a:rPr lang="en-US"/>
              <a:t>Click to edit Master title style</a:t>
            </a:r>
          </a:p>
        </p:txBody>
      </p:sp>
      <p:sp>
        <p:nvSpPr>
          <p:cNvPr id="3" name="Picture Placeholder 2"/>
          <p:cNvSpPr>
            <a:spLocks noGrp="1"/>
          </p:cNvSpPr>
          <p:nvPr>
            <p:ph type="pic" idx="1"/>
          </p:nvPr>
        </p:nvSpPr>
        <p:spPr>
          <a:xfrm>
            <a:off x="1194859" y="408517"/>
            <a:ext cx="3657600" cy="2743200"/>
          </a:xfrm>
        </p:spPr>
        <p:txBody>
          <a:bodyPr/>
          <a:lstStyle>
            <a:lvl1pPr marL="0" indent="0">
              <a:buNone/>
              <a:defRPr sz="2133"/>
            </a:lvl1pPr>
            <a:lvl2pPr marL="304815" indent="0">
              <a:buNone/>
              <a:defRPr sz="1867"/>
            </a:lvl2pPr>
            <a:lvl3pPr marL="609630" indent="0">
              <a:buNone/>
              <a:defRPr sz="1600"/>
            </a:lvl3pPr>
            <a:lvl4pPr marL="914446" indent="0">
              <a:buNone/>
              <a:defRPr sz="1333"/>
            </a:lvl4pPr>
            <a:lvl5pPr marL="1219261" indent="0">
              <a:buNone/>
              <a:defRPr sz="1333"/>
            </a:lvl5pPr>
            <a:lvl6pPr marL="1524076" indent="0">
              <a:buNone/>
              <a:defRPr sz="1333"/>
            </a:lvl6pPr>
            <a:lvl7pPr marL="1828891" indent="0">
              <a:buNone/>
              <a:defRPr sz="1333"/>
            </a:lvl7pPr>
            <a:lvl8pPr marL="2133707" indent="0">
              <a:buNone/>
              <a:defRPr sz="1333"/>
            </a:lvl8pPr>
            <a:lvl9pPr marL="2438522" indent="0">
              <a:buNone/>
              <a:defRPr sz="1333"/>
            </a:lvl9pPr>
          </a:lstStyle>
          <a:p>
            <a:endParaRPr lang="en-US"/>
          </a:p>
        </p:txBody>
      </p:sp>
      <p:sp>
        <p:nvSpPr>
          <p:cNvPr id="4" name="Text Placeholder 3"/>
          <p:cNvSpPr>
            <a:spLocks noGrp="1"/>
          </p:cNvSpPr>
          <p:nvPr>
            <p:ph type="body" sz="half" idx="2"/>
          </p:nvPr>
        </p:nvSpPr>
        <p:spPr>
          <a:xfrm>
            <a:off x="1194859" y="3578225"/>
            <a:ext cx="3657600" cy="536575"/>
          </a:xfrm>
        </p:spPr>
        <p:txBody>
          <a:bodyPr/>
          <a:lstStyle>
            <a:lvl1pPr marL="0" indent="0">
              <a:buNone/>
              <a:defRPr sz="933"/>
            </a:lvl1pPr>
            <a:lvl2pPr marL="304815" indent="0">
              <a:buNone/>
              <a:defRPr sz="800"/>
            </a:lvl2pPr>
            <a:lvl3pPr marL="609630" indent="0">
              <a:buNone/>
              <a:defRPr sz="667"/>
            </a:lvl3pPr>
            <a:lvl4pPr marL="914446" indent="0">
              <a:buNone/>
              <a:defRPr sz="600"/>
            </a:lvl4pPr>
            <a:lvl5pPr marL="1219261" indent="0">
              <a:buNone/>
              <a:defRPr sz="600"/>
            </a:lvl5pPr>
            <a:lvl6pPr marL="1524076" indent="0">
              <a:buNone/>
              <a:defRPr sz="600"/>
            </a:lvl6pPr>
            <a:lvl7pPr marL="1828891" indent="0">
              <a:buNone/>
              <a:defRPr sz="600"/>
            </a:lvl7pPr>
            <a:lvl8pPr marL="2133707" indent="0">
              <a:buNone/>
              <a:defRPr sz="600"/>
            </a:lvl8pPr>
            <a:lvl9pPr marL="2438522" indent="0">
              <a:buNone/>
              <a:defRPr sz="6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12/3/24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96904149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12/3/24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20200677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419600" y="183092"/>
            <a:ext cx="1371600" cy="3901017"/>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304800" y="183092"/>
            <a:ext cx="4013200" cy="39010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12/3/24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616684782"/>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0.xml"/><Relationship Id="rId3" Type="http://schemas.openxmlformats.org/officeDocument/2006/relationships/slideLayout" Target="../slideLayouts/slideLayout5.xml"/><Relationship Id="rId7" Type="http://schemas.openxmlformats.org/officeDocument/2006/relationships/slideLayout" Target="../slideLayouts/slideLayout9.xml"/><Relationship Id="rId12" Type="http://schemas.openxmlformats.org/officeDocument/2006/relationships/theme" Target="../theme/theme2.xml"/><Relationship Id="rId2" Type="http://schemas.openxmlformats.org/officeDocument/2006/relationships/slideLayout" Target="../slideLayouts/slideLayout4.xml"/><Relationship Id="rId1" Type="http://schemas.openxmlformats.org/officeDocument/2006/relationships/slideLayout" Target="../slideLayouts/slideLayout3.xml"/><Relationship Id="rId6" Type="http://schemas.openxmlformats.org/officeDocument/2006/relationships/slideLayout" Target="../slideLayouts/slideLayout8.xml"/><Relationship Id="rId11" Type="http://schemas.openxmlformats.org/officeDocument/2006/relationships/slideLayout" Target="../slideLayouts/slideLayout13.xml"/><Relationship Id="rId5" Type="http://schemas.openxmlformats.org/officeDocument/2006/relationships/slideLayout" Target="../slideLayouts/slideLayout7.xml"/><Relationship Id="rId10" Type="http://schemas.openxmlformats.org/officeDocument/2006/relationships/slideLayout" Target="../slideLayouts/slideLayout12.xml"/><Relationship Id="rId4" Type="http://schemas.openxmlformats.org/officeDocument/2006/relationships/slideLayout" Target="../slideLayouts/slideLayout6.xml"/><Relationship Id="rId9" Type="http://schemas.openxmlformats.org/officeDocument/2006/relationships/slideLayout" Target="../slideLayouts/slideLayout1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C066F78-0153-7C77-8D30-E922E63EAF5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9400010A-3F42-3AA9-72DF-EE6CD5E60D9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F5C970E-B3F0-C681-F1CD-A23A7CCAB45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5260FFED-8179-4349-8FD3-D6DA3C5B8204}" type="datetime1">
              <a:rPr lang="en-US" smtClean="0"/>
              <a:t>12/3/24</a:t>
            </a:fld>
            <a:endParaRPr lang="en-US"/>
          </a:p>
        </p:txBody>
      </p:sp>
      <p:sp>
        <p:nvSpPr>
          <p:cNvPr id="5" name="Footer Placeholder 4">
            <a:extLst>
              <a:ext uri="{FF2B5EF4-FFF2-40B4-BE49-F238E27FC236}">
                <a16:creationId xmlns:a16="http://schemas.microsoft.com/office/drawing/2014/main" id="{BC74E775-1CBE-76DE-09BF-572308A8393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93BE0E73-FA35-2E7C-DE3A-5B28A1DFB7C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A2B8AF6F-4499-469B-A785-387A354EAEF5}" type="slidenum">
              <a:rPr lang="en-US" smtClean="0"/>
              <a:t>‹#›</a:t>
            </a:fld>
            <a:endParaRPr lang="en-US"/>
          </a:p>
        </p:txBody>
      </p:sp>
    </p:spTree>
    <p:extLst>
      <p:ext uri="{BB962C8B-B14F-4D97-AF65-F5344CB8AC3E}">
        <p14:creationId xmlns:p14="http://schemas.microsoft.com/office/powerpoint/2010/main" val="1466894075"/>
      </p:ext>
    </p:extLst>
  </p:cSld>
  <p:clrMap bg1="lt1" tx1="dk1" bg2="lt2" tx2="dk2" accent1="accent1" accent2="accent2" accent3="accent3" accent4="accent4" accent5="accent5" accent6="accent6" hlink="hlink" folHlink="folHlink"/>
  <p:sldLayoutIdLst>
    <p:sldLayoutId id="2147483650" r:id="rId1"/>
    <p:sldLayoutId id="2147483649" r:id="rId2"/>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04800" y="183092"/>
            <a:ext cx="5486400" cy="762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304800" y="1066800"/>
            <a:ext cx="5486400" cy="3017309"/>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304800" y="4237567"/>
            <a:ext cx="1422400" cy="243417"/>
          </a:xfrm>
          <a:prstGeom prst="rect">
            <a:avLst/>
          </a:prstGeom>
        </p:spPr>
        <p:txBody>
          <a:bodyPr vert="horz" lIns="91440" tIns="45720" rIns="91440" bIns="45720" rtlCol="0" anchor="ctr"/>
          <a:lstStyle>
            <a:lvl1pPr algn="l">
              <a:defRPr sz="800">
                <a:solidFill>
                  <a:schemeClr val="tx1">
                    <a:tint val="75000"/>
                  </a:schemeClr>
                </a:solidFill>
              </a:defRPr>
            </a:lvl1pPr>
          </a:lstStyle>
          <a:p>
            <a:fld id="{1D8BD707-D9CF-40AE-B4C6-C98DA3205C09}" type="datetimeFigureOut">
              <a:rPr lang="en-US" smtClean="0"/>
              <a:pPr/>
              <a:t>12/3/24</a:t>
            </a:fld>
            <a:endParaRPr lang="en-US"/>
          </a:p>
        </p:txBody>
      </p:sp>
      <p:sp>
        <p:nvSpPr>
          <p:cNvPr id="5" name="Footer Placeholder 4"/>
          <p:cNvSpPr>
            <a:spLocks noGrp="1"/>
          </p:cNvSpPr>
          <p:nvPr>
            <p:ph type="ftr" sz="quarter" idx="3"/>
          </p:nvPr>
        </p:nvSpPr>
        <p:spPr>
          <a:xfrm>
            <a:off x="2082800" y="4237567"/>
            <a:ext cx="1930400" cy="243417"/>
          </a:xfrm>
          <a:prstGeom prst="rect">
            <a:avLst/>
          </a:prstGeom>
        </p:spPr>
        <p:txBody>
          <a:bodyPr vert="horz" lIns="91440" tIns="45720" rIns="91440" bIns="45720" rtlCol="0" anchor="ctr"/>
          <a:lstStyle>
            <a:lvl1pPr algn="ctr">
              <a:defRPr sz="8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4368800" y="4237567"/>
            <a:ext cx="1422400" cy="243417"/>
          </a:xfrm>
          <a:prstGeom prst="rect">
            <a:avLst/>
          </a:prstGeom>
        </p:spPr>
        <p:txBody>
          <a:bodyPr vert="horz" lIns="91440" tIns="45720" rIns="91440" bIns="45720" rtlCol="0" anchor="ctr"/>
          <a:lstStyle>
            <a:lvl1pPr algn="r">
              <a:defRPr sz="800">
                <a:solidFill>
                  <a:schemeClr val="tx1">
                    <a:tint val="75000"/>
                  </a:schemeClr>
                </a:solidFill>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429630035"/>
      </p:ext>
    </p:extLst>
  </p:cSld>
  <p:clrMap bg1="lt1" tx1="dk1" bg2="lt2" tx2="dk2" accent1="accent1" accent2="accent2" accent3="accent3" accent4="accent4" accent5="accent5" accent6="accent6" hlink="hlink" folHlink="folHlink"/>
  <p:sldLayoutIdLst>
    <p:sldLayoutId id="2147483652" r:id="rId1"/>
    <p:sldLayoutId id="2147483653" r:id="rId2"/>
    <p:sldLayoutId id="2147483654" r:id="rId3"/>
    <p:sldLayoutId id="2147483655" r:id="rId4"/>
    <p:sldLayoutId id="2147483656" r:id="rId5"/>
    <p:sldLayoutId id="2147483657" r:id="rId6"/>
    <p:sldLayoutId id="2147483658" r:id="rId7"/>
    <p:sldLayoutId id="2147483659" r:id="rId8"/>
    <p:sldLayoutId id="2147483660" r:id="rId9"/>
    <p:sldLayoutId id="2147483661" r:id="rId10"/>
    <p:sldLayoutId id="2147483662" r:id="rId11"/>
  </p:sldLayoutIdLst>
  <p:txStyles>
    <p:titleStyle>
      <a:lvl1pPr algn="ctr" defTabSz="609630" rtl="0" eaLnBrk="1" latinLnBrk="0" hangingPunct="1">
        <a:spcBef>
          <a:spcPct val="0"/>
        </a:spcBef>
        <a:buNone/>
        <a:defRPr sz="2933" kern="1200">
          <a:solidFill>
            <a:schemeClr val="tx1"/>
          </a:solidFill>
          <a:latin typeface="+mj-lt"/>
          <a:ea typeface="+mj-ea"/>
          <a:cs typeface="+mj-cs"/>
        </a:defRPr>
      </a:lvl1pPr>
    </p:titleStyle>
    <p:bodyStyle>
      <a:lvl1pPr marL="228611" indent="-228611" algn="l" defTabSz="609630" rtl="0" eaLnBrk="1" latinLnBrk="0" hangingPunct="1">
        <a:spcBef>
          <a:spcPct val="20000"/>
        </a:spcBef>
        <a:buFont typeface="Arial" pitchFamily="34" charset="0"/>
        <a:buChar char="•"/>
        <a:defRPr sz="2133" kern="1200">
          <a:solidFill>
            <a:schemeClr val="tx1"/>
          </a:solidFill>
          <a:latin typeface="+mn-lt"/>
          <a:ea typeface="+mn-ea"/>
          <a:cs typeface="+mn-cs"/>
        </a:defRPr>
      </a:lvl1pPr>
      <a:lvl2pPr marL="495325" indent="-190510" algn="l" defTabSz="609630" rtl="0" eaLnBrk="1" latinLnBrk="0" hangingPunct="1">
        <a:spcBef>
          <a:spcPct val="20000"/>
        </a:spcBef>
        <a:buFont typeface="Arial" pitchFamily="34" charset="0"/>
        <a:buChar char="–"/>
        <a:defRPr sz="1867" kern="1200">
          <a:solidFill>
            <a:schemeClr val="tx1"/>
          </a:solidFill>
          <a:latin typeface="+mn-lt"/>
          <a:ea typeface="+mn-ea"/>
          <a:cs typeface="+mn-cs"/>
        </a:defRPr>
      </a:lvl2pPr>
      <a:lvl3pPr marL="762038" indent="-152408" algn="l" defTabSz="609630" rtl="0" eaLnBrk="1" latinLnBrk="0" hangingPunct="1">
        <a:spcBef>
          <a:spcPct val="20000"/>
        </a:spcBef>
        <a:buFont typeface="Arial" pitchFamily="34" charset="0"/>
        <a:buChar char="•"/>
        <a:defRPr sz="1600" kern="1200">
          <a:solidFill>
            <a:schemeClr val="tx1"/>
          </a:solidFill>
          <a:latin typeface="+mn-lt"/>
          <a:ea typeface="+mn-ea"/>
          <a:cs typeface="+mn-cs"/>
        </a:defRPr>
      </a:lvl3pPr>
      <a:lvl4pPr marL="1066853"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4pPr>
      <a:lvl5pPr marL="1371669"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5pPr>
      <a:lvl6pPr marL="1676484"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6pPr>
      <a:lvl7pPr marL="1981299"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7pPr>
      <a:lvl8pPr marL="2286114"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8pPr>
      <a:lvl9pPr marL="2590930"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9pPr>
    </p:bodyStyle>
    <p:otherStyle>
      <a:defPPr>
        <a:defRPr lang="en-US"/>
      </a:defPPr>
      <a:lvl1pPr marL="0" algn="l" defTabSz="609630" rtl="0" eaLnBrk="1" latinLnBrk="0" hangingPunct="1">
        <a:defRPr sz="1200" kern="1200">
          <a:solidFill>
            <a:schemeClr val="tx1"/>
          </a:solidFill>
          <a:latin typeface="+mn-lt"/>
          <a:ea typeface="+mn-ea"/>
          <a:cs typeface="+mn-cs"/>
        </a:defRPr>
      </a:lvl1pPr>
      <a:lvl2pPr marL="304815" algn="l" defTabSz="609630" rtl="0" eaLnBrk="1" latinLnBrk="0" hangingPunct="1">
        <a:defRPr sz="1200" kern="1200">
          <a:solidFill>
            <a:schemeClr val="tx1"/>
          </a:solidFill>
          <a:latin typeface="+mn-lt"/>
          <a:ea typeface="+mn-ea"/>
          <a:cs typeface="+mn-cs"/>
        </a:defRPr>
      </a:lvl2pPr>
      <a:lvl3pPr marL="609630" algn="l" defTabSz="609630" rtl="0" eaLnBrk="1" latinLnBrk="0" hangingPunct="1">
        <a:defRPr sz="1200" kern="1200">
          <a:solidFill>
            <a:schemeClr val="tx1"/>
          </a:solidFill>
          <a:latin typeface="+mn-lt"/>
          <a:ea typeface="+mn-ea"/>
          <a:cs typeface="+mn-cs"/>
        </a:defRPr>
      </a:lvl3pPr>
      <a:lvl4pPr marL="914446" algn="l" defTabSz="609630" rtl="0" eaLnBrk="1" latinLnBrk="0" hangingPunct="1">
        <a:defRPr sz="1200" kern="1200">
          <a:solidFill>
            <a:schemeClr val="tx1"/>
          </a:solidFill>
          <a:latin typeface="+mn-lt"/>
          <a:ea typeface="+mn-ea"/>
          <a:cs typeface="+mn-cs"/>
        </a:defRPr>
      </a:lvl4pPr>
      <a:lvl5pPr marL="1219261" algn="l" defTabSz="609630" rtl="0" eaLnBrk="1" latinLnBrk="0" hangingPunct="1">
        <a:defRPr sz="1200" kern="1200">
          <a:solidFill>
            <a:schemeClr val="tx1"/>
          </a:solidFill>
          <a:latin typeface="+mn-lt"/>
          <a:ea typeface="+mn-ea"/>
          <a:cs typeface="+mn-cs"/>
        </a:defRPr>
      </a:lvl5pPr>
      <a:lvl6pPr marL="1524076" algn="l" defTabSz="609630" rtl="0" eaLnBrk="1" latinLnBrk="0" hangingPunct="1">
        <a:defRPr sz="1200" kern="1200">
          <a:solidFill>
            <a:schemeClr val="tx1"/>
          </a:solidFill>
          <a:latin typeface="+mn-lt"/>
          <a:ea typeface="+mn-ea"/>
          <a:cs typeface="+mn-cs"/>
        </a:defRPr>
      </a:lvl6pPr>
      <a:lvl7pPr marL="1828891" algn="l" defTabSz="609630" rtl="0" eaLnBrk="1" latinLnBrk="0" hangingPunct="1">
        <a:defRPr sz="1200" kern="1200">
          <a:solidFill>
            <a:schemeClr val="tx1"/>
          </a:solidFill>
          <a:latin typeface="+mn-lt"/>
          <a:ea typeface="+mn-ea"/>
          <a:cs typeface="+mn-cs"/>
        </a:defRPr>
      </a:lvl7pPr>
      <a:lvl8pPr marL="2133707" algn="l" defTabSz="609630" rtl="0" eaLnBrk="1" latinLnBrk="0" hangingPunct="1">
        <a:defRPr sz="1200" kern="1200">
          <a:solidFill>
            <a:schemeClr val="tx1"/>
          </a:solidFill>
          <a:latin typeface="+mn-lt"/>
          <a:ea typeface="+mn-ea"/>
          <a:cs typeface="+mn-cs"/>
        </a:defRPr>
      </a:lvl8pPr>
      <a:lvl9pPr marL="2438522" algn="l" defTabSz="609630" rtl="0" eaLnBrk="1" latinLnBrk="0" hangingPunct="1">
        <a:defRPr sz="12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9.xml"/><Relationship Id="rId6" Type="http://schemas.openxmlformats.org/officeDocument/2006/relationships/image" Target="../media/image6.png"/><Relationship Id="rId5" Type="http://schemas.openxmlformats.org/officeDocument/2006/relationships/image" Target="../media/image5.svg"/><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8.jpeg"/></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16.jpe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AF2929"/>
        </a:solidFill>
        <a:effectLst/>
      </p:bgPr>
    </p:bg>
    <p:spTree>
      <p:nvGrpSpPr>
        <p:cNvPr id="1" name=""/>
        <p:cNvGrpSpPr/>
        <p:nvPr/>
      </p:nvGrpSpPr>
      <p:grpSpPr>
        <a:xfrm>
          <a:off x="0" y="0"/>
          <a:ext cx="0" cy="0"/>
          <a:chOff x="0" y="0"/>
          <a:chExt cx="0" cy="0"/>
        </a:xfrm>
      </p:grpSpPr>
      <p:sp>
        <p:nvSpPr>
          <p:cNvPr id="3" name="Freeform 3"/>
          <p:cNvSpPr/>
          <p:nvPr/>
        </p:nvSpPr>
        <p:spPr>
          <a:xfrm>
            <a:off x="411062" y="760228"/>
            <a:ext cx="946497" cy="273301"/>
          </a:xfrm>
          <a:custGeom>
            <a:avLst/>
            <a:gdLst/>
            <a:ahLst/>
            <a:cxnLst/>
            <a:rect l="l" t="t" r="r" b="b"/>
            <a:pathLst>
              <a:path w="1419746" h="409952">
                <a:moveTo>
                  <a:pt x="0" y="0"/>
                </a:moveTo>
                <a:lnTo>
                  <a:pt x="1419746" y="0"/>
                </a:lnTo>
                <a:lnTo>
                  <a:pt x="1419746" y="409952"/>
                </a:lnTo>
                <a:lnTo>
                  <a:pt x="0" y="40995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grpSp>
        <p:nvGrpSpPr>
          <p:cNvPr id="4" name="Group 4"/>
          <p:cNvGrpSpPr/>
          <p:nvPr/>
        </p:nvGrpSpPr>
        <p:grpSpPr>
          <a:xfrm>
            <a:off x="685800" y="5734252"/>
            <a:ext cx="10820400" cy="631231"/>
            <a:chOff x="0" y="0"/>
            <a:chExt cx="4274726" cy="249375"/>
          </a:xfrm>
        </p:grpSpPr>
        <p:sp>
          <p:nvSpPr>
            <p:cNvPr id="5" name="Freeform 5"/>
            <p:cNvSpPr/>
            <p:nvPr/>
          </p:nvSpPr>
          <p:spPr>
            <a:xfrm>
              <a:off x="0" y="0"/>
              <a:ext cx="4274726" cy="249375"/>
            </a:xfrm>
            <a:custGeom>
              <a:avLst/>
              <a:gdLst/>
              <a:ahLst/>
              <a:cxnLst/>
              <a:rect l="l" t="t" r="r" b="b"/>
              <a:pathLst>
                <a:path w="4274726" h="249375">
                  <a:moveTo>
                    <a:pt x="11925" y="0"/>
                  </a:moveTo>
                  <a:lnTo>
                    <a:pt x="4262801" y="0"/>
                  </a:lnTo>
                  <a:cubicBezTo>
                    <a:pt x="4269387" y="0"/>
                    <a:pt x="4274726" y="5339"/>
                    <a:pt x="4274726" y="11925"/>
                  </a:cubicBezTo>
                  <a:lnTo>
                    <a:pt x="4274726" y="237450"/>
                  </a:lnTo>
                  <a:cubicBezTo>
                    <a:pt x="4274726" y="244036"/>
                    <a:pt x="4269387" y="249375"/>
                    <a:pt x="4262801" y="249375"/>
                  </a:cubicBezTo>
                  <a:lnTo>
                    <a:pt x="11925" y="249375"/>
                  </a:lnTo>
                  <a:cubicBezTo>
                    <a:pt x="5339" y="249375"/>
                    <a:pt x="0" y="244036"/>
                    <a:pt x="0" y="237450"/>
                  </a:cubicBezTo>
                  <a:lnTo>
                    <a:pt x="0" y="11925"/>
                  </a:lnTo>
                  <a:cubicBezTo>
                    <a:pt x="0" y="5339"/>
                    <a:pt x="5339" y="0"/>
                    <a:pt x="11925" y="0"/>
                  </a:cubicBezTo>
                  <a:close/>
                </a:path>
              </a:pathLst>
            </a:custGeom>
            <a:solidFill>
              <a:srgbClr val="202020"/>
            </a:solidFill>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
          <p:nvSpPr>
            <p:cNvPr id="6" name="TextBox 6"/>
            <p:cNvSpPr txBox="1"/>
            <p:nvPr/>
          </p:nvSpPr>
          <p:spPr>
            <a:xfrm>
              <a:off x="0" y="-57150"/>
              <a:ext cx="4274726" cy="306525"/>
            </a:xfrm>
            <a:prstGeom prst="rect">
              <a:avLst/>
            </a:prstGeom>
          </p:spPr>
          <p:txBody>
            <a:bodyPr lIns="33867" tIns="33867" rIns="33867" bIns="33867" rtlCol="0" anchor="ctr"/>
            <a:lstStyle/>
            <a:p>
              <a:pPr marL="0" marR="0" lvl="0" indent="0" algn="ctr" defTabSz="609630" rtl="0" eaLnBrk="1" fontAlgn="auto" latinLnBrk="0" hangingPunct="1">
                <a:lnSpc>
                  <a:spcPts val="2264"/>
                </a:lnSpc>
                <a:spcBef>
                  <a:spcPts val="0"/>
                </a:spcBef>
                <a:spcAft>
                  <a:spcPts val="0"/>
                </a:spcAft>
                <a:buClrTx/>
                <a:buSzTx/>
                <a:buFontTx/>
                <a:buNone/>
                <a:tabLst/>
                <a:defRPr/>
              </a:pPr>
              <a:endParaRPr kumimoji="0" sz="1200" b="0" i="0" u="none" strike="noStrike" kern="1200" cap="none" spc="0" normalizeH="0" baseline="0" noProof="0">
                <a:ln>
                  <a:noFill/>
                </a:ln>
                <a:solidFill>
                  <a:prstClr val="black"/>
                </a:solidFill>
                <a:effectLst/>
                <a:uLnTx/>
                <a:uFillTx/>
                <a:latin typeface="Calibri"/>
                <a:ea typeface="+mn-ea"/>
                <a:cs typeface="+mn-cs"/>
              </a:endParaRPr>
            </a:p>
          </p:txBody>
        </p:sp>
      </p:grpSp>
      <p:sp>
        <p:nvSpPr>
          <p:cNvPr id="13" name="Freeform 6">
            <a:extLst>
              <a:ext uri="{FF2B5EF4-FFF2-40B4-BE49-F238E27FC236}">
                <a16:creationId xmlns:a16="http://schemas.microsoft.com/office/drawing/2014/main" id="{7AABC92B-47F5-070B-F2A3-BB69F139A56C}"/>
              </a:ext>
            </a:extLst>
          </p:cNvPr>
          <p:cNvSpPr/>
          <p:nvPr/>
        </p:nvSpPr>
        <p:spPr>
          <a:xfrm>
            <a:off x="-1116497" y="-1042069"/>
            <a:ext cx="3604593" cy="3604593"/>
          </a:xfrm>
          <a:custGeom>
            <a:avLst/>
            <a:gdLst/>
            <a:ahLst/>
            <a:cxnLst/>
            <a:rect l="l" t="t" r="r" b="b"/>
            <a:pathLst>
              <a:path w="5406890" h="5406890">
                <a:moveTo>
                  <a:pt x="0" y="0"/>
                </a:moveTo>
                <a:lnTo>
                  <a:pt x="5406891" y="0"/>
                </a:lnTo>
                <a:lnTo>
                  <a:pt x="5406891" y="5406891"/>
                </a:lnTo>
                <a:lnTo>
                  <a:pt x="0" y="5406891"/>
                </a:lnTo>
                <a:lnTo>
                  <a:pt x="0" y="0"/>
                </a:lnTo>
                <a:close/>
              </a:path>
            </a:pathLst>
          </a:custGeom>
          <a:blipFill>
            <a:blip r:embed="rId4">
              <a:alphaModFix amt="19999"/>
              <a:extLst>
                <a:ext uri="{96DAC541-7B7A-43D3-8B79-37D633B846F1}">
                  <asvg:svgBlip xmlns:asvg="http://schemas.microsoft.com/office/drawing/2016/SVG/main" r:embed="rId5"/>
                </a:ext>
              </a:extLst>
            </a:blip>
            <a:stretch>
              <a:fillRect/>
            </a:stretch>
          </a:blipFill>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pic>
        <p:nvPicPr>
          <p:cNvPr id="14" name="Picture 13">
            <a:extLst>
              <a:ext uri="{FF2B5EF4-FFF2-40B4-BE49-F238E27FC236}">
                <a16:creationId xmlns:a16="http://schemas.microsoft.com/office/drawing/2014/main" id="{815E9DD3-D307-83AB-8EB4-D0A81B51E3F7}"/>
              </a:ext>
            </a:extLst>
          </p:cNvPr>
          <p:cNvPicPr>
            <a:picLocks noChangeAspect="1"/>
          </p:cNvPicPr>
          <p:nvPr/>
        </p:nvPicPr>
        <p:blipFill>
          <a:blip r:embed="rId6"/>
          <a:stretch>
            <a:fillRect/>
          </a:stretch>
        </p:blipFill>
        <p:spPr>
          <a:xfrm>
            <a:off x="10820400" y="187292"/>
            <a:ext cx="1132566" cy="355665"/>
          </a:xfrm>
          <a:prstGeom prst="rect">
            <a:avLst/>
          </a:prstGeom>
        </p:spPr>
      </p:pic>
      <p:sp>
        <p:nvSpPr>
          <p:cNvPr id="8" name="Title 4">
            <a:extLst>
              <a:ext uri="{FF2B5EF4-FFF2-40B4-BE49-F238E27FC236}">
                <a16:creationId xmlns:a16="http://schemas.microsoft.com/office/drawing/2014/main" id="{005998CC-3C44-D0BD-D359-1F36F3246818}"/>
              </a:ext>
            </a:extLst>
          </p:cNvPr>
          <p:cNvSpPr txBox="1">
            <a:spLocks/>
          </p:cNvSpPr>
          <p:nvPr/>
        </p:nvSpPr>
        <p:spPr>
          <a:xfrm>
            <a:off x="1173498" y="703050"/>
            <a:ext cx="10149803" cy="2967006"/>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spcBef>
                <a:spcPts val="1000"/>
              </a:spcBef>
            </a:pPr>
            <a:r>
              <a:rPr lang="en-US" sz="3600" b="1" dirty="0">
                <a:solidFill>
                  <a:srgbClr val="FFF6F0"/>
                </a:solidFill>
                <a:latin typeface="Lato Extended"/>
                <a:ea typeface="+mn-ea"/>
                <a:cs typeface="+mn-cs"/>
              </a:rPr>
              <a:t>Enhancing Memory Bandwidth and Energy Efficiency in GPU</a:t>
            </a:r>
          </a:p>
          <a:p>
            <a:pPr>
              <a:spcBef>
                <a:spcPts val="1000"/>
              </a:spcBef>
            </a:pPr>
            <a:r>
              <a:rPr lang="en-US" sz="3600" b="1" dirty="0">
                <a:solidFill>
                  <a:srgbClr val="FFF6F0"/>
                </a:solidFill>
                <a:latin typeface="Lato Extended"/>
                <a:ea typeface="+mn-ea"/>
                <a:cs typeface="+mn-cs"/>
              </a:rPr>
              <a:t>Microarchitecture through High Bandwidth Memory (HBM) and Data</a:t>
            </a:r>
          </a:p>
          <a:p>
            <a:pPr>
              <a:spcBef>
                <a:spcPts val="1000"/>
              </a:spcBef>
            </a:pPr>
            <a:r>
              <a:rPr lang="en-US" sz="3600" b="1" dirty="0">
                <a:solidFill>
                  <a:srgbClr val="FFF6F0"/>
                </a:solidFill>
                <a:latin typeface="Lato Extended"/>
                <a:ea typeface="+mn-ea"/>
                <a:cs typeface="+mn-cs"/>
              </a:rPr>
              <a:t>Locality Optimizations</a:t>
            </a:r>
          </a:p>
        </p:txBody>
      </p:sp>
      <p:sp>
        <p:nvSpPr>
          <p:cNvPr id="9" name="Subtitle 5">
            <a:extLst>
              <a:ext uri="{FF2B5EF4-FFF2-40B4-BE49-F238E27FC236}">
                <a16:creationId xmlns:a16="http://schemas.microsoft.com/office/drawing/2014/main" id="{01EB7AFE-4F40-0757-E91F-1A0878A79F78}"/>
              </a:ext>
            </a:extLst>
          </p:cNvPr>
          <p:cNvSpPr txBox="1">
            <a:spLocks/>
          </p:cNvSpPr>
          <p:nvPr/>
        </p:nvSpPr>
        <p:spPr>
          <a:xfrm>
            <a:off x="1676400" y="4566906"/>
            <a:ext cx="9144000" cy="1655762"/>
          </a:xfrm>
          <a:prstGeom prst="rect">
            <a:avLst/>
          </a:prstGeom>
        </p:spPr>
        <p:txBody>
          <a:bodyPr vert="horz" lIns="91440" tIns="45720" rIns="91440" bIns="45720" rtlCol="0" anchor="t">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b="1" i="0" dirty="0">
                <a:solidFill>
                  <a:srgbClr val="FFF6F0"/>
                </a:solidFill>
                <a:effectLst/>
                <a:latin typeface="Lato Extended"/>
              </a:rPr>
              <a:t>EECE7352</a:t>
            </a:r>
            <a:r>
              <a:rPr lang="en-US" dirty="0">
                <a:solidFill>
                  <a:srgbClr val="FFF6F0"/>
                </a:solidFill>
                <a:latin typeface="Aptos"/>
                <a:ea typeface="Calibri"/>
                <a:cs typeface="Calibri"/>
              </a:rPr>
              <a:t>: </a:t>
            </a:r>
            <a:r>
              <a:rPr lang="en-US" b="1" dirty="0">
                <a:solidFill>
                  <a:srgbClr val="FFF6F0"/>
                </a:solidFill>
                <a:latin typeface="Lato Extended"/>
              </a:rPr>
              <a:t>Computer Architecture</a:t>
            </a:r>
          </a:p>
          <a:p>
            <a:r>
              <a:rPr lang="en-US" dirty="0">
                <a:solidFill>
                  <a:srgbClr val="FFF6F0"/>
                </a:solidFill>
                <a:latin typeface="Aptos"/>
                <a:ea typeface="Calibri"/>
                <a:cs typeface="Calibri"/>
              </a:rPr>
              <a:t>Suchibrata Das</a:t>
            </a:r>
            <a:endParaRPr lang="en-US" dirty="0">
              <a:solidFill>
                <a:srgbClr val="FFF6F0"/>
              </a:solidFill>
              <a:latin typeface="Aptos"/>
            </a:endParaRPr>
          </a:p>
        </p:txBody>
      </p:sp>
      <p:cxnSp>
        <p:nvCxnSpPr>
          <p:cNvPr id="15" name="Straight Connector 14">
            <a:extLst>
              <a:ext uri="{FF2B5EF4-FFF2-40B4-BE49-F238E27FC236}">
                <a16:creationId xmlns:a16="http://schemas.microsoft.com/office/drawing/2014/main" id="{3D674B9E-C9EA-9AF8-95D3-2FD49AD6F027}"/>
              </a:ext>
            </a:extLst>
          </p:cNvPr>
          <p:cNvCxnSpPr>
            <a:cxnSpLocks/>
          </p:cNvCxnSpPr>
          <p:nvPr/>
        </p:nvCxnSpPr>
        <p:spPr>
          <a:xfrm>
            <a:off x="3737822" y="3767036"/>
            <a:ext cx="4716356" cy="0"/>
          </a:xfrm>
          <a:prstGeom prst="line">
            <a:avLst/>
          </a:prstGeom>
          <a:ln w="28575">
            <a:solidFill>
              <a:srgbClr val="FFF6F0"/>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55427642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5346C635-D6B1-5B01-5221-DCFDCE5D186B}"/>
              </a:ext>
            </a:extLst>
          </p:cNvPr>
          <p:cNvSpPr>
            <a:spLocks noGrp="1"/>
          </p:cNvSpPr>
          <p:nvPr>
            <p:ph type="sldNum" sz="quarter" idx="12"/>
          </p:nvPr>
        </p:nvSpPr>
        <p:spPr>
          <a:xfrm>
            <a:off x="9448800" y="6464202"/>
            <a:ext cx="2743200" cy="365125"/>
          </a:xfrm>
        </p:spPr>
        <p:txBody>
          <a:bodyPr/>
          <a:lstStyle/>
          <a:p>
            <a:fld id="{A2B8AF6F-4499-469B-A785-387A354EAEF5}" type="slidenum">
              <a:rPr lang="en-US" smtClean="0">
                <a:latin typeface="+mj-lt"/>
              </a:rPr>
              <a:t>2</a:t>
            </a:fld>
            <a:endParaRPr lang="en-US">
              <a:latin typeface="+mj-lt"/>
            </a:endParaRPr>
          </a:p>
        </p:txBody>
      </p:sp>
      <p:sp>
        <p:nvSpPr>
          <p:cNvPr id="18" name="Title 1">
            <a:extLst>
              <a:ext uri="{FF2B5EF4-FFF2-40B4-BE49-F238E27FC236}">
                <a16:creationId xmlns:a16="http://schemas.microsoft.com/office/drawing/2014/main" id="{06393660-5DE6-F0FB-1964-37E5EDDCE008}"/>
              </a:ext>
            </a:extLst>
          </p:cNvPr>
          <p:cNvSpPr txBox="1">
            <a:spLocks/>
          </p:cNvSpPr>
          <p:nvPr/>
        </p:nvSpPr>
        <p:spPr>
          <a:xfrm>
            <a:off x="304798" y="-25987"/>
            <a:ext cx="10458476" cy="644434"/>
          </a:xfrm>
          <a:prstGeom prst="rect">
            <a:avLst/>
          </a:prstGeom>
        </p:spPr>
        <p:txBody>
          <a:bodyPr vert="horz" lIns="91440" tIns="45720" rIns="91440" bIns="45720" rtlCol="0" anchor="b">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3200" b="1" i="0" u="none" strike="noStrike" kern="1200" cap="none" spc="0" normalizeH="0" baseline="0" noProof="0" dirty="0">
                <a:ln>
                  <a:noFill/>
                </a:ln>
                <a:solidFill>
                  <a:srgbClr val="D51C2C"/>
                </a:solidFill>
                <a:effectLst/>
                <a:uLnTx/>
                <a:uFillTx/>
                <a:ea typeface="+mj-ea"/>
                <a:cs typeface="+mj-cs"/>
              </a:rPr>
              <a:t>Introduction : Challenges and goals in GPU architecture </a:t>
            </a:r>
          </a:p>
        </p:txBody>
      </p:sp>
      <p:grpSp>
        <p:nvGrpSpPr>
          <p:cNvPr id="32" name="Group 19">
            <a:extLst>
              <a:ext uri="{FF2B5EF4-FFF2-40B4-BE49-F238E27FC236}">
                <a16:creationId xmlns:a16="http://schemas.microsoft.com/office/drawing/2014/main" id="{21CDA17A-FCCA-4D02-5345-C3B9034666C4}"/>
              </a:ext>
            </a:extLst>
          </p:cNvPr>
          <p:cNvGrpSpPr/>
          <p:nvPr/>
        </p:nvGrpSpPr>
        <p:grpSpPr>
          <a:xfrm>
            <a:off x="-1591674" y="-1521643"/>
            <a:ext cx="1896472" cy="10828883"/>
            <a:chOff x="0" y="-57150"/>
            <a:chExt cx="499482" cy="2852052"/>
          </a:xfrm>
        </p:grpSpPr>
        <p:sp>
          <p:nvSpPr>
            <p:cNvPr id="33" name="Freeform 20">
              <a:extLst>
                <a:ext uri="{FF2B5EF4-FFF2-40B4-BE49-F238E27FC236}">
                  <a16:creationId xmlns:a16="http://schemas.microsoft.com/office/drawing/2014/main" id="{540A7C74-655B-6EF4-38A9-A7C2966E9605}"/>
                </a:ext>
              </a:extLst>
            </p:cNvPr>
            <p:cNvSpPr/>
            <p:nvPr/>
          </p:nvSpPr>
          <p:spPr>
            <a:xfrm>
              <a:off x="0" y="0"/>
              <a:ext cx="499482" cy="2794901"/>
            </a:xfrm>
            <a:custGeom>
              <a:avLst/>
              <a:gdLst/>
              <a:ahLst/>
              <a:cxnLst/>
              <a:rect l="l" t="t" r="r" b="b"/>
              <a:pathLst>
                <a:path w="499482" h="2794901">
                  <a:moveTo>
                    <a:pt x="0" y="0"/>
                  </a:moveTo>
                  <a:lnTo>
                    <a:pt x="499482" y="0"/>
                  </a:lnTo>
                  <a:lnTo>
                    <a:pt x="499482" y="2794901"/>
                  </a:lnTo>
                  <a:lnTo>
                    <a:pt x="0" y="2794901"/>
                  </a:lnTo>
                  <a:close/>
                </a:path>
              </a:pathLst>
            </a:custGeom>
            <a:solidFill>
              <a:srgbClr val="AF2929"/>
            </a:solidFill>
          </p:spPr>
          <p:txBody>
            <a:bodyPr/>
            <a:lstStyle/>
            <a:p>
              <a:endParaRPr lang="en-US">
                <a:solidFill>
                  <a:prstClr val="black"/>
                </a:solidFill>
                <a:latin typeface="Calibri"/>
              </a:endParaRPr>
            </a:p>
          </p:txBody>
        </p:sp>
        <p:sp>
          <p:nvSpPr>
            <p:cNvPr id="34" name="TextBox 21">
              <a:extLst>
                <a:ext uri="{FF2B5EF4-FFF2-40B4-BE49-F238E27FC236}">
                  <a16:creationId xmlns:a16="http://schemas.microsoft.com/office/drawing/2014/main" id="{9839C3C3-8824-9AAA-64D5-E5D2CFDF71B7}"/>
                </a:ext>
              </a:extLst>
            </p:cNvPr>
            <p:cNvSpPr txBox="1"/>
            <p:nvPr/>
          </p:nvSpPr>
          <p:spPr>
            <a:xfrm>
              <a:off x="0" y="-57150"/>
              <a:ext cx="499482" cy="2852052"/>
            </a:xfrm>
            <a:prstGeom prst="rect">
              <a:avLst/>
            </a:prstGeom>
          </p:spPr>
          <p:txBody>
            <a:bodyPr lIns="50800" tIns="50800" rIns="50800" bIns="50800" rtlCol="0" anchor="ctr"/>
            <a:lstStyle/>
            <a:p>
              <a:pPr algn="ctr">
                <a:lnSpc>
                  <a:spcPts val="3396"/>
                </a:lnSpc>
              </a:pPr>
              <a:endParaRPr>
                <a:solidFill>
                  <a:prstClr val="black"/>
                </a:solidFill>
                <a:latin typeface="Calibri"/>
              </a:endParaRPr>
            </a:p>
          </p:txBody>
        </p:sp>
      </p:grpSp>
      <p:sp>
        <p:nvSpPr>
          <p:cNvPr id="5" name="TextBox 4">
            <a:extLst>
              <a:ext uri="{FF2B5EF4-FFF2-40B4-BE49-F238E27FC236}">
                <a16:creationId xmlns:a16="http://schemas.microsoft.com/office/drawing/2014/main" id="{836DA5CF-C2E0-BAF2-9B62-9A0BD73FEF8E}"/>
              </a:ext>
            </a:extLst>
          </p:cNvPr>
          <p:cNvSpPr txBox="1"/>
          <p:nvPr/>
        </p:nvSpPr>
        <p:spPr>
          <a:xfrm>
            <a:off x="529081" y="732070"/>
            <a:ext cx="10976153" cy="2215991"/>
          </a:xfrm>
          <a:prstGeom prst="rect">
            <a:avLst/>
          </a:prstGeom>
          <a:noFill/>
        </p:spPr>
        <p:txBody>
          <a:bodyPr wrap="square" rtlCol="0">
            <a:spAutoFit/>
          </a:bodyPr>
          <a:lstStyle/>
          <a:p>
            <a:pPr>
              <a:buFont typeface="Arial" panose="020B0604020202020204" pitchFamily="34" charset="0"/>
              <a:buChar char="•"/>
            </a:pPr>
            <a:r>
              <a:rPr lang="en-US" sz="2000" dirty="0"/>
              <a:t>The rise of AI, High Performance Computing (HPC), and real-time analytics is reshaping computing demands.</a:t>
            </a:r>
          </a:p>
          <a:p>
            <a:pPr>
              <a:buFont typeface="Arial" panose="020B0604020202020204" pitchFamily="34" charset="0"/>
              <a:buChar char="•"/>
            </a:pPr>
            <a:r>
              <a:rPr lang="en-US" sz="2000" dirty="0"/>
              <a:t>Despite their parallel processing capabilities, GPUs face critical bottlenecks in memory bandwidth, energy efficiency, and control flow divergence..</a:t>
            </a:r>
          </a:p>
          <a:p>
            <a:pPr>
              <a:buFont typeface="Arial" panose="020B0604020202020204" pitchFamily="34" charset="0"/>
              <a:buChar char="•"/>
            </a:pPr>
            <a:r>
              <a:rPr lang="en-US" sz="2000" dirty="0"/>
              <a:t>Addressing these bottlenecks is key to scaling GPU architectures for future workloads.</a:t>
            </a:r>
          </a:p>
          <a:p>
            <a:pPr>
              <a:buFont typeface="Arial" panose="020B0604020202020204" pitchFamily="34" charset="0"/>
              <a:buChar char="•"/>
            </a:pPr>
            <a:r>
              <a:rPr lang="en-US" sz="2000" dirty="0"/>
              <a:t>Goal: Optimize GPU scalability and performance for future workloads.</a:t>
            </a:r>
          </a:p>
          <a:p>
            <a:endParaRPr lang="en-US" dirty="0"/>
          </a:p>
        </p:txBody>
      </p:sp>
      <p:pic>
        <p:nvPicPr>
          <p:cNvPr id="7" name="Picture 6" descr="Diagram of a diagram of a package structure&#10;&#10;Description automatically generated">
            <a:extLst>
              <a:ext uri="{FF2B5EF4-FFF2-40B4-BE49-F238E27FC236}">
                <a16:creationId xmlns:a16="http://schemas.microsoft.com/office/drawing/2014/main" id="{B52F8B09-32BF-66AA-A847-22C913F1CFC4}"/>
              </a:ext>
            </a:extLst>
          </p:cNvPr>
          <p:cNvPicPr>
            <a:picLocks noChangeAspect="1"/>
          </p:cNvPicPr>
          <p:nvPr/>
        </p:nvPicPr>
        <p:blipFill>
          <a:blip r:embed="rId3"/>
          <a:stretch>
            <a:fillRect/>
          </a:stretch>
        </p:blipFill>
        <p:spPr>
          <a:xfrm>
            <a:off x="1428726" y="2902034"/>
            <a:ext cx="3937000" cy="2552700"/>
          </a:xfrm>
          <a:prstGeom prst="rect">
            <a:avLst/>
          </a:prstGeom>
          <a:ln>
            <a:solidFill>
              <a:schemeClr val="tx1"/>
            </a:solidFill>
          </a:ln>
        </p:spPr>
      </p:pic>
      <p:sp>
        <p:nvSpPr>
          <p:cNvPr id="8" name="TextBox 7">
            <a:extLst>
              <a:ext uri="{FF2B5EF4-FFF2-40B4-BE49-F238E27FC236}">
                <a16:creationId xmlns:a16="http://schemas.microsoft.com/office/drawing/2014/main" id="{F5D0B465-02A8-D673-569D-3BCB0DEAB016}"/>
              </a:ext>
            </a:extLst>
          </p:cNvPr>
          <p:cNvSpPr txBox="1"/>
          <p:nvPr/>
        </p:nvSpPr>
        <p:spPr>
          <a:xfrm>
            <a:off x="673450" y="5479599"/>
            <a:ext cx="6119889" cy="830997"/>
          </a:xfrm>
          <a:prstGeom prst="rect">
            <a:avLst/>
          </a:prstGeom>
          <a:noFill/>
        </p:spPr>
        <p:txBody>
          <a:bodyPr wrap="square" rtlCol="0">
            <a:spAutoFit/>
          </a:bodyPr>
          <a:lstStyle/>
          <a:p>
            <a:r>
              <a:rPr lang="en-US" sz="1600" dirty="0">
                <a:latin typeface="+mj-lt"/>
              </a:rPr>
              <a:t>Figure 1 - </a:t>
            </a:r>
            <a:r>
              <a:rPr lang="en-US" sz="1600" dirty="0">
                <a:solidFill>
                  <a:srgbClr val="000000"/>
                </a:solidFill>
                <a:effectLst/>
                <a:latin typeface="+mj-lt"/>
              </a:rPr>
              <a:t>Architecture of HBM-enabled GPU. (a) Conventional GPU with off- chip GDDRs DRAM. (b) HBM-enabled GPU (top view). (c) HBM-enabled GPU (side view)</a:t>
            </a:r>
          </a:p>
        </p:txBody>
      </p:sp>
      <p:sp>
        <p:nvSpPr>
          <p:cNvPr id="11" name="TextBox 10">
            <a:extLst>
              <a:ext uri="{FF2B5EF4-FFF2-40B4-BE49-F238E27FC236}">
                <a16:creationId xmlns:a16="http://schemas.microsoft.com/office/drawing/2014/main" id="{41FF076B-B455-E538-84C4-8EF339CF0235}"/>
              </a:ext>
            </a:extLst>
          </p:cNvPr>
          <p:cNvSpPr txBox="1"/>
          <p:nvPr/>
        </p:nvSpPr>
        <p:spPr>
          <a:xfrm>
            <a:off x="6934223" y="5454734"/>
            <a:ext cx="4212197" cy="584775"/>
          </a:xfrm>
          <a:prstGeom prst="rect">
            <a:avLst/>
          </a:prstGeom>
          <a:noFill/>
        </p:spPr>
        <p:txBody>
          <a:bodyPr wrap="square" rtlCol="0">
            <a:spAutoFit/>
          </a:bodyPr>
          <a:lstStyle/>
          <a:p>
            <a:r>
              <a:rPr lang="en-US" sz="1600" dirty="0">
                <a:latin typeface="+mj-lt"/>
              </a:rPr>
              <a:t>Fig 2. The exponential growth of data-intensive workloads drives GPU innovation and scalability </a:t>
            </a:r>
          </a:p>
        </p:txBody>
      </p:sp>
      <p:pic>
        <p:nvPicPr>
          <p:cNvPr id="1028" name="Picture 4" descr="Exponential growth or compound interest, investment, wealth or earning rising up graph, business sales or profit increase concept, financial report graph with exponential arrow from flying rocket. Exponential growth or compound interest, investment, wealth or earning rising up graph, business sales or profit increase concept, financial report graph with exponential arrow from flying rocket. exponential graph stock illustrations">
            <a:extLst>
              <a:ext uri="{FF2B5EF4-FFF2-40B4-BE49-F238E27FC236}">
                <a16:creationId xmlns:a16="http://schemas.microsoft.com/office/drawing/2014/main" id="{CA5B70C2-D72C-7C24-3D8C-161E7D3E77C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934223" y="2902034"/>
            <a:ext cx="3829051" cy="2552700"/>
          </a:xfrm>
          <a:prstGeom prst="rect">
            <a:avLst/>
          </a:prstGeom>
          <a:noFill/>
          <a:extLst>
            <a:ext uri="{909E8E84-426E-40DD-AFC4-6F175D3DCCD1}">
              <a14:hiddenFill xmlns:a14="http://schemas.microsoft.com/office/drawing/2010/main">
                <a:solidFill>
                  <a:srgbClr val="FFFFFF"/>
                </a:solidFill>
              </a14:hiddenFill>
            </a:ext>
          </a:extLst>
        </p:spPr>
      </p:pic>
      <p:sp>
        <p:nvSpPr>
          <p:cNvPr id="13" name="TextBox 12">
            <a:extLst>
              <a:ext uri="{FF2B5EF4-FFF2-40B4-BE49-F238E27FC236}">
                <a16:creationId xmlns:a16="http://schemas.microsoft.com/office/drawing/2014/main" id="{F0E5E026-8251-6A2C-8CD4-FF0B80675EF6}"/>
              </a:ext>
            </a:extLst>
          </p:cNvPr>
          <p:cNvSpPr txBox="1"/>
          <p:nvPr/>
        </p:nvSpPr>
        <p:spPr>
          <a:xfrm>
            <a:off x="2419109" y="208344"/>
            <a:ext cx="184731" cy="369332"/>
          </a:xfrm>
          <a:prstGeom prst="rect">
            <a:avLst/>
          </a:prstGeom>
          <a:noFill/>
        </p:spPr>
        <p:txBody>
          <a:bodyPr wrap="none" rtlCol="0">
            <a:spAutoFit/>
          </a:bodyPr>
          <a:lstStyle/>
          <a:p>
            <a:endParaRPr lang="en-US"/>
          </a:p>
        </p:txBody>
      </p:sp>
    </p:spTree>
    <p:extLst>
      <p:ext uri="{BB962C8B-B14F-4D97-AF65-F5344CB8AC3E}">
        <p14:creationId xmlns:p14="http://schemas.microsoft.com/office/powerpoint/2010/main" val="3252794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5346C635-D6B1-5B01-5221-DCFDCE5D186B}"/>
              </a:ext>
            </a:extLst>
          </p:cNvPr>
          <p:cNvSpPr>
            <a:spLocks noGrp="1"/>
          </p:cNvSpPr>
          <p:nvPr>
            <p:ph type="sldNum" sz="quarter" idx="12"/>
          </p:nvPr>
        </p:nvSpPr>
        <p:spPr>
          <a:xfrm>
            <a:off x="9424944" y="6492875"/>
            <a:ext cx="2743200" cy="365125"/>
          </a:xfrm>
        </p:spPr>
        <p:txBody>
          <a:bodyPr/>
          <a:lstStyle/>
          <a:p>
            <a:fld id="{A2B8AF6F-4499-469B-A785-387A354EAEF5}" type="slidenum">
              <a:rPr lang="en-US" smtClean="0"/>
              <a:t>3</a:t>
            </a:fld>
            <a:endParaRPr lang="en-US"/>
          </a:p>
        </p:txBody>
      </p:sp>
      <p:sp>
        <p:nvSpPr>
          <p:cNvPr id="30" name="Title 1">
            <a:extLst>
              <a:ext uri="{FF2B5EF4-FFF2-40B4-BE49-F238E27FC236}">
                <a16:creationId xmlns:a16="http://schemas.microsoft.com/office/drawing/2014/main" id="{436E451D-3140-F2AD-4CC5-9EBE706F439F}"/>
              </a:ext>
            </a:extLst>
          </p:cNvPr>
          <p:cNvSpPr txBox="1">
            <a:spLocks/>
          </p:cNvSpPr>
          <p:nvPr/>
        </p:nvSpPr>
        <p:spPr>
          <a:xfrm>
            <a:off x="304798" y="-25293"/>
            <a:ext cx="11524529" cy="873663"/>
          </a:xfrm>
          <a:prstGeom prst="rect">
            <a:avLst/>
          </a:prstGeom>
        </p:spPr>
        <p:txBody>
          <a:bodyPr vert="horz" lIns="91440" tIns="45720" rIns="91440" bIns="45720" rtlCol="0" anchor="b">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70000"/>
              </a:lnSpc>
              <a:defRPr/>
            </a:pPr>
            <a:r>
              <a:rPr lang="en-US" sz="3200" b="1" dirty="0">
                <a:solidFill>
                  <a:srgbClr val="D51C2C"/>
                </a:solidFill>
              </a:rPr>
              <a:t>Memory Hierarchy Optimization: Tackling Bandwidth </a:t>
            </a:r>
          </a:p>
          <a:p>
            <a:pPr>
              <a:lnSpc>
                <a:spcPct val="70000"/>
              </a:lnSpc>
              <a:defRPr/>
            </a:pPr>
            <a:r>
              <a:rPr lang="en-US" sz="3200" b="1" dirty="0">
                <a:solidFill>
                  <a:srgbClr val="D51C2C"/>
                </a:solidFill>
              </a:rPr>
              <a:t>Bottlenecks</a:t>
            </a:r>
          </a:p>
        </p:txBody>
      </p:sp>
      <p:grpSp>
        <p:nvGrpSpPr>
          <p:cNvPr id="34" name="Group 19">
            <a:extLst>
              <a:ext uri="{FF2B5EF4-FFF2-40B4-BE49-F238E27FC236}">
                <a16:creationId xmlns:a16="http://schemas.microsoft.com/office/drawing/2014/main" id="{5E111BD1-5AB2-0C86-9A14-6956741BB57B}"/>
              </a:ext>
            </a:extLst>
          </p:cNvPr>
          <p:cNvGrpSpPr/>
          <p:nvPr/>
        </p:nvGrpSpPr>
        <p:grpSpPr>
          <a:xfrm>
            <a:off x="-1591674" y="-1521643"/>
            <a:ext cx="1896472" cy="10828883"/>
            <a:chOff x="0" y="-57150"/>
            <a:chExt cx="499482" cy="2852052"/>
          </a:xfrm>
        </p:grpSpPr>
        <p:sp>
          <p:nvSpPr>
            <p:cNvPr id="35" name="Freeform 20">
              <a:extLst>
                <a:ext uri="{FF2B5EF4-FFF2-40B4-BE49-F238E27FC236}">
                  <a16:creationId xmlns:a16="http://schemas.microsoft.com/office/drawing/2014/main" id="{674D22EF-24EA-9C7D-1B41-7B2B7309E2B0}"/>
                </a:ext>
              </a:extLst>
            </p:cNvPr>
            <p:cNvSpPr/>
            <p:nvPr/>
          </p:nvSpPr>
          <p:spPr>
            <a:xfrm>
              <a:off x="0" y="0"/>
              <a:ext cx="499482" cy="2794901"/>
            </a:xfrm>
            <a:custGeom>
              <a:avLst/>
              <a:gdLst/>
              <a:ahLst/>
              <a:cxnLst/>
              <a:rect l="l" t="t" r="r" b="b"/>
              <a:pathLst>
                <a:path w="499482" h="2794901">
                  <a:moveTo>
                    <a:pt x="0" y="0"/>
                  </a:moveTo>
                  <a:lnTo>
                    <a:pt x="499482" y="0"/>
                  </a:lnTo>
                  <a:lnTo>
                    <a:pt x="499482" y="2794901"/>
                  </a:lnTo>
                  <a:lnTo>
                    <a:pt x="0" y="2794901"/>
                  </a:lnTo>
                  <a:close/>
                </a:path>
              </a:pathLst>
            </a:custGeom>
            <a:solidFill>
              <a:srgbClr val="AF2929"/>
            </a:solidFill>
          </p:spPr>
          <p:txBody>
            <a:bodyPr/>
            <a:lstStyle/>
            <a:p>
              <a:endParaRPr lang="en-US">
                <a:solidFill>
                  <a:prstClr val="black"/>
                </a:solidFill>
                <a:latin typeface="Calibri"/>
              </a:endParaRPr>
            </a:p>
          </p:txBody>
        </p:sp>
        <p:sp>
          <p:nvSpPr>
            <p:cNvPr id="36" name="TextBox 21">
              <a:extLst>
                <a:ext uri="{FF2B5EF4-FFF2-40B4-BE49-F238E27FC236}">
                  <a16:creationId xmlns:a16="http://schemas.microsoft.com/office/drawing/2014/main" id="{CFE26E07-7735-D5B7-219A-0FF6A9FDC4D5}"/>
                </a:ext>
              </a:extLst>
            </p:cNvPr>
            <p:cNvSpPr txBox="1"/>
            <p:nvPr/>
          </p:nvSpPr>
          <p:spPr>
            <a:xfrm>
              <a:off x="0" y="-57150"/>
              <a:ext cx="499482" cy="2852052"/>
            </a:xfrm>
            <a:prstGeom prst="rect">
              <a:avLst/>
            </a:prstGeom>
          </p:spPr>
          <p:txBody>
            <a:bodyPr lIns="50800" tIns="50800" rIns="50800" bIns="50800" rtlCol="0" anchor="ctr"/>
            <a:lstStyle/>
            <a:p>
              <a:pPr algn="ctr">
                <a:lnSpc>
                  <a:spcPts val="3396"/>
                </a:lnSpc>
              </a:pPr>
              <a:endParaRPr>
                <a:solidFill>
                  <a:prstClr val="black"/>
                </a:solidFill>
                <a:latin typeface="Calibri"/>
              </a:endParaRPr>
            </a:p>
          </p:txBody>
        </p:sp>
      </p:grpSp>
      <p:sp>
        <p:nvSpPr>
          <p:cNvPr id="2" name="TextBox 1">
            <a:extLst>
              <a:ext uri="{FF2B5EF4-FFF2-40B4-BE49-F238E27FC236}">
                <a16:creationId xmlns:a16="http://schemas.microsoft.com/office/drawing/2014/main" id="{F53146B1-F7CA-F688-D3F4-A09047C0DD64}"/>
              </a:ext>
            </a:extLst>
          </p:cNvPr>
          <p:cNvSpPr txBox="1"/>
          <p:nvPr/>
        </p:nvSpPr>
        <p:spPr>
          <a:xfrm>
            <a:off x="529961" y="860564"/>
            <a:ext cx="6041571" cy="5632311"/>
          </a:xfrm>
          <a:prstGeom prst="rect">
            <a:avLst/>
          </a:prstGeom>
          <a:noFill/>
        </p:spPr>
        <p:txBody>
          <a:bodyPr wrap="square" rtlCol="0">
            <a:spAutoFit/>
          </a:bodyPr>
          <a:lstStyle/>
          <a:p>
            <a:r>
              <a:rPr lang="en-US" dirty="0"/>
              <a:t>One of the biggest challenges in GPU scalability lies in optimizing memory bandwidth and hierarchy.</a:t>
            </a:r>
          </a:p>
          <a:p>
            <a:pPr>
              <a:buFont typeface="Arial" panose="020B0604020202020204" pitchFamily="34" charset="0"/>
              <a:buChar char="•"/>
            </a:pPr>
            <a:r>
              <a:rPr lang="en-US" b="1" dirty="0"/>
              <a:t>High Bandwidth Memory (HBM):</a:t>
            </a:r>
            <a:r>
              <a:rPr lang="en-US" dirty="0"/>
              <a:t> Revolutionizes GPU performance with 3D stacking and TSV technology.</a:t>
            </a:r>
          </a:p>
          <a:p>
            <a:pPr>
              <a:buFont typeface="Arial" panose="020B0604020202020204" pitchFamily="34" charset="0"/>
              <a:buChar char="•"/>
            </a:pPr>
            <a:r>
              <a:rPr lang="en-US" b="1" dirty="0"/>
              <a:t>Double-Buffering Pipelines:</a:t>
            </a:r>
            <a:r>
              <a:rPr lang="en-US" dirty="0"/>
              <a:t> Overlap computation and memory transfers to reduce latency and improve throughput (e.g., 1.63× speedup in </a:t>
            </a:r>
            <a:r>
              <a:rPr lang="en-US" dirty="0" err="1"/>
              <a:t>AlexNet</a:t>
            </a:r>
            <a:r>
              <a:rPr lang="en-US" dirty="0"/>
              <a:t> training).</a:t>
            </a:r>
          </a:p>
          <a:p>
            <a:pPr>
              <a:buFont typeface="Arial" panose="020B0604020202020204" pitchFamily="34" charset="0"/>
              <a:buChar char="•"/>
            </a:pPr>
            <a:r>
              <a:rPr lang="en-US" b="1" dirty="0"/>
              <a:t>Locality-Aware Hierarchies:</a:t>
            </a:r>
            <a:endParaRPr lang="en-US" dirty="0"/>
          </a:p>
          <a:p>
            <a:pPr marL="742950" lvl="1" indent="-285750">
              <a:buFont typeface="Arial" panose="020B0604020202020204" pitchFamily="34" charset="0"/>
              <a:buChar char="•"/>
            </a:pPr>
            <a:r>
              <a:rPr lang="en-US" dirty="0"/>
              <a:t>Adaptive caching minimizes memory traffic.</a:t>
            </a:r>
          </a:p>
          <a:p>
            <a:pPr marL="742950" lvl="1" indent="-285750">
              <a:buFont typeface="Arial" panose="020B0604020202020204" pitchFamily="34" charset="0"/>
              <a:buChar char="•"/>
            </a:pPr>
            <a:r>
              <a:rPr lang="en-US" dirty="0"/>
              <a:t>Improves bandwidth utilization and reduces energy consumption.</a:t>
            </a:r>
          </a:p>
          <a:p>
            <a:pPr>
              <a:buFont typeface="Arial" panose="020B0604020202020204" pitchFamily="34" charset="0"/>
              <a:buChar char="•"/>
            </a:pPr>
            <a:r>
              <a:rPr lang="en-US" b="1" dirty="0"/>
              <a:t>Performance Insights:</a:t>
            </a:r>
            <a:endParaRPr lang="en-US" dirty="0"/>
          </a:p>
          <a:p>
            <a:pPr marL="742950" lvl="1" indent="-285750">
              <a:buFont typeface="Arial" panose="020B0604020202020204" pitchFamily="34" charset="0"/>
              <a:buChar char="•"/>
            </a:pPr>
            <a:r>
              <a:rPr lang="en-US" dirty="0"/>
              <a:t>HBM3E achieves up to 1.2 TB/s bandwidth, reducing training times for AI models like GPT-4.</a:t>
            </a:r>
          </a:p>
          <a:p>
            <a:pPr marL="742950" lvl="1" indent="-285750">
              <a:buFont typeface="Arial" panose="020B0604020202020204" pitchFamily="34" charset="0"/>
              <a:buChar char="•"/>
            </a:pPr>
            <a:r>
              <a:rPr lang="en-US" dirty="0"/>
              <a:t>Maintains stability in high-throughput tasks like BFS traversal.</a:t>
            </a:r>
          </a:p>
          <a:p>
            <a:pPr lvl="1"/>
            <a:r>
              <a:rPr lang="en-US" dirty="0"/>
              <a:t>While memory hierarchy optimizations address bandwidth, energy efficiency remains a crucial challenge</a:t>
            </a:r>
          </a:p>
          <a:p>
            <a:endParaRPr lang="en-US" dirty="0"/>
          </a:p>
        </p:txBody>
      </p:sp>
      <p:pic>
        <p:nvPicPr>
          <p:cNvPr id="3" name="Picture 2" descr="A group of blue and red graph&#10;&#10;Description automatically generated">
            <a:extLst>
              <a:ext uri="{FF2B5EF4-FFF2-40B4-BE49-F238E27FC236}">
                <a16:creationId xmlns:a16="http://schemas.microsoft.com/office/drawing/2014/main" id="{24E9522A-404A-95F7-B7F2-F922B6B41432}"/>
              </a:ext>
            </a:extLst>
          </p:cNvPr>
          <p:cNvPicPr>
            <a:picLocks noChangeAspect="1"/>
          </p:cNvPicPr>
          <p:nvPr/>
        </p:nvPicPr>
        <p:blipFill>
          <a:blip r:embed="rId3"/>
          <a:stretch>
            <a:fillRect/>
          </a:stretch>
        </p:blipFill>
        <p:spPr>
          <a:xfrm>
            <a:off x="7012440" y="1068917"/>
            <a:ext cx="2695100" cy="2507660"/>
          </a:xfrm>
          <a:prstGeom prst="rect">
            <a:avLst/>
          </a:prstGeom>
          <a:ln>
            <a:solidFill>
              <a:schemeClr val="tx1"/>
            </a:solidFill>
          </a:ln>
        </p:spPr>
      </p:pic>
      <p:sp>
        <p:nvSpPr>
          <p:cNvPr id="6" name="TextBox 5">
            <a:extLst>
              <a:ext uri="{FF2B5EF4-FFF2-40B4-BE49-F238E27FC236}">
                <a16:creationId xmlns:a16="http://schemas.microsoft.com/office/drawing/2014/main" id="{A365E320-E693-3F7B-6F32-68222738917E}"/>
              </a:ext>
            </a:extLst>
          </p:cNvPr>
          <p:cNvSpPr txBox="1"/>
          <p:nvPr/>
        </p:nvSpPr>
        <p:spPr>
          <a:xfrm>
            <a:off x="6890266" y="3576577"/>
            <a:ext cx="4939061" cy="584775"/>
          </a:xfrm>
          <a:prstGeom prst="rect">
            <a:avLst/>
          </a:prstGeom>
          <a:noFill/>
        </p:spPr>
        <p:txBody>
          <a:bodyPr wrap="square" rtlCol="0">
            <a:spAutoFit/>
          </a:bodyPr>
          <a:lstStyle/>
          <a:p>
            <a:r>
              <a:rPr lang="en-US" sz="1600" dirty="0">
                <a:latin typeface="+mj-lt"/>
              </a:rPr>
              <a:t>Fig 3. Evaluation of GDDR6 and HBM across different number of write instructions </a:t>
            </a:r>
          </a:p>
        </p:txBody>
      </p:sp>
      <p:pic>
        <p:nvPicPr>
          <p:cNvPr id="7" name="Picture 6" descr="A diagram of a stack of blue and yellow sheets&#10;&#10;Description automatically generated">
            <a:extLst>
              <a:ext uri="{FF2B5EF4-FFF2-40B4-BE49-F238E27FC236}">
                <a16:creationId xmlns:a16="http://schemas.microsoft.com/office/drawing/2014/main" id="{3F6BBCC9-CD44-3AA1-882E-D4B6376A2D92}"/>
              </a:ext>
            </a:extLst>
          </p:cNvPr>
          <p:cNvPicPr>
            <a:picLocks noChangeAspect="1"/>
          </p:cNvPicPr>
          <p:nvPr/>
        </p:nvPicPr>
        <p:blipFill>
          <a:blip r:embed="rId4"/>
          <a:stretch>
            <a:fillRect/>
          </a:stretch>
        </p:blipFill>
        <p:spPr>
          <a:xfrm>
            <a:off x="7024790" y="4173546"/>
            <a:ext cx="3868987" cy="1347578"/>
          </a:xfrm>
          <a:prstGeom prst="rect">
            <a:avLst/>
          </a:prstGeom>
          <a:ln>
            <a:solidFill>
              <a:schemeClr val="accent1"/>
            </a:solidFill>
          </a:ln>
        </p:spPr>
      </p:pic>
      <p:sp>
        <p:nvSpPr>
          <p:cNvPr id="8" name="TextBox 7">
            <a:extLst>
              <a:ext uri="{FF2B5EF4-FFF2-40B4-BE49-F238E27FC236}">
                <a16:creationId xmlns:a16="http://schemas.microsoft.com/office/drawing/2014/main" id="{DDF7B4F2-7726-88FA-3E06-5A3A4C363EC7}"/>
              </a:ext>
            </a:extLst>
          </p:cNvPr>
          <p:cNvSpPr txBox="1"/>
          <p:nvPr/>
        </p:nvSpPr>
        <p:spPr>
          <a:xfrm>
            <a:off x="7024790" y="5521124"/>
            <a:ext cx="4804537" cy="769441"/>
          </a:xfrm>
          <a:prstGeom prst="rect">
            <a:avLst/>
          </a:prstGeom>
          <a:noFill/>
        </p:spPr>
        <p:txBody>
          <a:bodyPr wrap="square" rtlCol="0">
            <a:spAutoFit/>
          </a:bodyPr>
          <a:lstStyle/>
          <a:p>
            <a:pPr marL="0" marR="0"/>
            <a:r>
              <a:rPr lang="en-US" sz="1400" dirty="0">
                <a:latin typeface="Aptos" panose="020B0004020202020204" pitchFamily="34" charset="0"/>
              </a:rPr>
              <a:t>Fig 4. </a:t>
            </a:r>
            <a:r>
              <a:rPr lang="en-US" sz="1400" dirty="0">
                <a:effectLst/>
                <a:latin typeface="Aptos" panose="020B0004020202020204" pitchFamily="34" charset="0"/>
                <a:ea typeface="Times New Roman" panose="02020603050405020304" pitchFamily="18" charset="0"/>
              </a:rPr>
              <a:t>Design space of a GPU with SCM and DRAM </a:t>
            </a:r>
            <a:r>
              <a:rPr lang="en-US" sz="1000" dirty="0">
                <a:latin typeface="Aptos" panose="020B0004020202020204" pitchFamily="34" charset="0"/>
              </a:rPr>
              <a:t>cache</a:t>
            </a:r>
            <a:r>
              <a:rPr lang="en-US" sz="1400" dirty="0">
                <a:effectLst/>
                <a:latin typeface="Aptos" panose="020B0004020202020204" pitchFamily="34" charset="0"/>
                <a:ea typeface="Times New Roman" panose="02020603050405020304" pitchFamily="18" charset="0"/>
              </a:rPr>
              <a:t> with (a) 3D- </a:t>
            </a:r>
            <a:r>
              <a:rPr lang="en-US" sz="1400" kern="0" dirty="0">
                <a:effectLst/>
                <a:latin typeface="Aptos" panose="020B0004020202020204" pitchFamily="34" charset="0"/>
                <a:ea typeface="Times New Roman" panose="02020603050405020304" pitchFamily="18" charset="0"/>
              </a:rPr>
              <a:t>stacked DRAM and SCM and (b) separate DRAM and SCM </a:t>
            </a:r>
            <a:r>
              <a:rPr lang="en-US" sz="1600" kern="0" dirty="0">
                <a:effectLst/>
                <a:latin typeface="+mj-lt"/>
                <a:ea typeface="Times New Roman" panose="02020603050405020304" pitchFamily="18" charset="0"/>
              </a:rPr>
              <a:t>stacks</a:t>
            </a:r>
            <a:r>
              <a:rPr lang="en-US" sz="1400" kern="0" dirty="0">
                <a:effectLst/>
                <a:latin typeface="Aptos" panose="020B0004020202020204" pitchFamily="34" charset="0"/>
                <a:ea typeface="Times New Roman" panose="02020603050405020304" pitchFamily="18" charset="0"/>
              </a:rPr>
              <a:t>. </a:t>
            </a:r>
            <a:endParaRPr lang="en-US" sz="1400" dirty="0">
              <a:latin typeface="Aptos" panose="020B0004020202020204" pitchFamily="34" charset="0"/>
            </a:endParaRPr>
          </a:p>
        </p:txBody>
      </p:sp>
      <p:sp>
        <p:nvSpPr>
          <p:cNvPr id="9" name="TextBox 8">
            <a:extLst>
              <a:ext uri="{FF2B5EF4-FFF2-40B4-BE49-F238E27FC236}">
                <a16:creationId xmlns:a16="http://schemas.microsoft.com/office/drawing/2014/main" id="{F4239092-F5BC-33DE-1EAE-7C620FC512F1}"/>
              </a:ext>
            </a:extLst>
          </p:cNvPr>
          <p:cNvSpPr txBox="1"/>
          <p:nvPr/>
        </p:nvSpPr>
        <p:spPr>
          <a:xfrm>
            <a:off x="2754775" y="162046"/>
            <a:ext cx="184731" cy="369332"/>
          </a:xfrm>
          <a:prstGeom prst="rect">
            <a:avLst/>
          </a:prstGeom>
          <a:noFill/>
        </p:spPr>
        <p:txBody>
          <a:bodyPr wrap="none" rtlCol="0">
            <a:spAutoFit/>
          </a:bodyPr>
          <a:lstStyle/>
          <a:p>
            <a:endParaRPr lang="en-US" dirty="0"/>
          </a:p>
        </p:txBody>
      </p:sp>
    </p:spTree>
    <p:extLst>
      <p:ext uri="{BB962C8B-B14F-4D97-AF65-F5344CB8AC3E}">
        <p14:creationId xmlns:p14="http://schemas.microsoft.com/office/powerpoint/2010/main" val="40045926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Title 1">
            <a:extLst>
              <a:ext uri="{FF2B5EF4-FFF2-40B4-BE49-F238E27FC236}">
                <a16:creationId xmlns:a16="http://schemas.microsoft.com/office/drawing/2014/main" id="{F2D56270-1CE7-9D85-DABE-B3982E579446}"/>
              </a:ext>
            </a:extLst>
          </p:cNvPr>
          <p:cNvSpPr txBox="1">
            <a:spLocks/>
          </p:cNvSpPr>
          <p:nvPr/>
        </p:nvSpPr>
        <p:spPr>
          <a:xfrm>
            <a:off x="337586" y="-837480"/>
            <a:ext cx="10423378" cy="644434"/>
          </a:xfrm>
          <a:prstGeom prst="rect">
            <a:avLst/>
          </a:prstGeom>
        </p:spPr>
        <p:txBody>
          <a:bodyPr vert="horz" lIns="91440" tIns="45720" rIns="91440" bIns="45720" rtlCol="0" anchor="b">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mj-lt"/>
            </a:endParaRPr>
          </a:p>
        </p:txBody>
      </p:sp>
      <p:sp>
        <p:nvSpPr>
          <p:cNvPr id="24" name="Title 1">
            <a:extLst>
              <a:ext uri="{FF2B5EF4-FFF2-40B4-BE49-F238E27FC236}">
                <a16:creationId xmlns:a16="http://schemas.microsoft.com/office/drawing/2014/main" id="{13C5BF68-72B2-182A-ABA4-A42F4F4A3947}"/>
              </a:ext>
            </a:extLst>
          </p:cNvPr>
          <p:cNvSpPr txBox="1">
            <a:spLocks/>
          </p:cNvSpPr>
          <p:nvPr/>
        </p:nvSpPr>
        <p:spPr>
          <a:xfrm>
            <a:off x="304798" y="84551"/>
            <a:ext cx="10423378" cy="963482"/>
          </a:xfrm>
          <a:prstGeom prst="rect">
            <a:avLst/>
          </a:prstGeom>
        </p:spPr>
        <p:txBody>
          <a:bodyPr vert="horz" lIns="91440" tIns="45720" rIns="91440" bIns="45720" rtlCol="0" anchor="b">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defTabSz="914400" eaLnBrk="1" fontAlgn="auto" latinLnBrk="0" hangingPunct="1">
              <a:lnSpc>
                <a:spcPct val="100000"/>
              </a:lnSpc>
              <a:spcBef>
                <a:spcPts val="0"/>
              </a:spcBef>
              <a:spcAft>
                <a:spcPts val="0"/>
              </a:spcAft>
              <a:buClrTx/>
              <a:buSzTx/>
              <a:buFontTx/>
              <a:buNone/>
              <a:tabLst/>
              <a:defRPr/>
            </a:pPr>
            <a:r>
              <a:rPr lang="en-US" sz="3200" b="1" kern="0" dirty="0">
                <a:solidFill>
                  <a:srgbClr val="D51C2C"/>
                </a:solidFill>
              </a:rPr>
              <a:t>Energy Efficiency: Scaling GPUs for Data-Intensive Applications</a:t>
            </a:r>
          </a:p>
        </p:txBody>
      </p:sp>
      <p:grpSp>
        <p:nvGrpSpPr>
          <p:cNvPr id="25" name="Group 19">
            <a:extLst>
              <a:ext uri="{FF2B5EF4-FFF2-40B4-BE49-F238E27FC236}">
                <a16:creationId xmlns:a16="http://schemas.microsoft.com/office/drawing/2014/main" id="{836C9D5A-F769-294A-E144-D850B6FE2A5A}"/>
              </a:ext>
            </a:extLst>
          </p:cNvPr>
          <p:cNvGrpSpPr/>
          <p:nvPr/>
        </p:nvGrpSpPr>
        <p:grpSpPr>
          <a:xfrm>
            <a:off x="-1591674" y="-1573006"/>
            <a:ext cx="1896472" cy="10828883"/>
            <a:chOff x="0" y="-57150"/>
            <a:chExt cx="499482" cy="2852052"/>
          </a:xfrm>
        </p:grpSpPr>
        <p:sp>
          <p:nvSpPr>
            <p:cNvPr id="26" name="Freeform 20">
              <a:extLst>
                <a:ext uri="{FF2B5EF4-FFF2-40B4-BE49-F238E27FC236}">
                  <a16:creationId xmlns:a16="http://schemas.microsoft.com/office/drawing/2014/main" id="{7043B67B-D92A-10F6-E5F4-DB0A6B15C228}"/>
                </a:ext>
              </a:extLst>
            </p:cNvPr>
            <p:cNvSpPr/>
            <p:nvPr/>
          </p:nvSpPr>
          <p:spPr>
            <a:xfrm>
              <a:off x="0" y="0"/>
              <a:ext cx="499482" cy="2794901"/>
            </a:xfrm>
            <a:custGeom>
              <a:avLst/>
              <a:gdLst/>
              <a:ahLst/>
              <a:cxnLst/>
              <a:rect l="l" t="t" r="r" b="b"/>
              <a:pathLst>
                <a:path w="499482" h="2794901">
                  <a:moveTo>
                    <a:pt x="0" y="0"/>
                  </a:moveTo>
                  <a:lnTo>
                    <a:pt x="499482" y="0"/>
                  </a:lnTo>
                  <a:lnTo>
                    <a:pt x="499482" y="2794901"/>
                  </a:lnTo>
                  <a:lnTo>
                    <a:pt x="0" y="2794901"/>
                  </a:lnTo>
                  <a:close/>
                </a:path>
              </a:pathLst>
            </a:custGeom>
            <a:solidFill>
              <a:srgbClr val="AF2929"/>
            </a:solidFill>
          </p:spPr>
          <p:txBody>
            <a:bodyPr/>
            <a:lstStyle/>
            <a:p>
              <a:endParaRPr lang="en-US">
                <a:solidFill>
                  <a:prstClr val="black"/>
                </a:solidFill>
                <a:latin typeface="Calibri"/>
              </a:endParaRPr>
            </a:p>
          </p:txBody>
        </p:sp>
        <p:sp>
          <p:nvSpPr>
            <p:cNvPr id="27" name="TextBox 21">
              <a:extLst>
                <a:ext uri="{FF2B5EF4-FFF2-40B4-BE49-F238E27FC236}">
                  <a16:creationId xmlns:a16="http://schemas.microsoft.com/office/drawing/2014/main" id="{C0078486-8AE6-37F5-7DE8-A1CE0408C7BD}"/>
                </a:ext>
              </a:extLst>
            </p:cNvPr>
            <p:cNvSpPr txBox="1"/>
            <p:nvPr/>
          </p:nvSpPr>
          <p:spPr>
            <a:xfrm>
              <a:off x="0" y="-57150"/>
              <a:ext cx="499482" cy="2852052"/>
            </a:xfrm>
            <a:prstGeom prst="rect">
              <a:avLst/>
            </a:prstGeom>
          </p:spPr>
          <p:txBody>
            <a:bodyPr lIns="50800" tIns="50800" rIns="50800" bIns="50800" rtlCol="0" anchor="ctr"/>
            <a:lstStyle/>
            <a:p>
              <a:pPr algn="ctr">
                <a:lnSpc>
                  <a:spcPts val="3396"/>
                </a:lnSpc>
              </a:pPr>
              <a:endParaRPr>
                <a:solidFill>
                  <a:prstClr val="black"/>
                </a:solidFill>
                <a:latin typeface="Calibri"/>
              </a:endParaRPr>
            </a:p>
          </p:txBody>
        </p:sp>
      </p:grpSp>
      <p:sp>
        <p:nvSpPr>
          <p:cNvPr id="2" name="TextBox 1">
            <a:extLst>
              <a:ext uri="{FF2B5EF4-FFF2-40B4-BE49-F238E27FC236}">
                <a16:creationId xmlns:a16="http://schemas.microsoft.com/office/drawing/2014/main" id="{092D8A86-82F3-3FBC-A615-10777F73B661}"/>
              </a:ext>
            </a:extLst>
          </p:cNvPr>
          <p:cNvSpPr txBox="1"/>
          <p:nvPr/>
        </p:nvSpPr>
        <p:spPr>
          <a:xfrm>
            <a:off x="439838" y="1163780"/>
            <a:ext cx="5289037" cy="5570756"/>
          </a:xfrm>
          <a:prstGeom prst="rect">
            <a:avLst/>
          </a:prstGeom>
          <a:noFill/>
        </p:spPr>
        <p:txBody>
          <a:bodyPr wrap="square" rtlCol="0">
            <a:spAutoFit/>
          </a:bodyPr>
          <a:lstStyle/>
          <a:p>
            <a:pPr>
              <a:buFont typeface="Arial" panose="020B0604020202020204" pitchFamily="34" charset="0"/>
              <a:buChar char="•"/>
            </a:pPr>
            <a:r>
              <a:rPr lang="en-US" sz="1600" b="1" dirty="0"/>
              <a:t>Challenge:</a:t>
            </a:r>
            <a:br>
              <a:rPr lang="en-US" sz="1600" dirty="0"/>
            </a:br>
            <a:r>
              <a:rPr lang="en-US" sz="1600" dirty="0"/>
              <a:t>As GPU parallelism increases, power consumption becomes a bottleneck in scalability.</a:t>
            </a:r>
          </a:p>
          <a:p>
            <a:pPr>
              <a:buFont typeface="Arial" panose="020B0604020202020204" pitchFamily="34" charset="0"/>
              <a:buChar char="•"/>
            </a:pPr>
            <a:r>
              <a:rPr lang="en-US" sz="1600" b="1" dirty="0"/>
              <a:t>Locality-Aware Memory Hierarchies:</a:t>
            </a:r>
            <a:endParaRPr lang="en-US" sz="1600" dirty="0"/>
          </a:p>
          <a:p>
            <a:pPr marL="742950" lvl="1" indent="-285750">
              <a:buFont typeface="Arial" panose="020B0604020202020204" pitchFamily="34" charset="0"/>
              <a:buChar char="•"/>
            </a:pPr>
            <a:r>
              <a:rPr lang="en-US" sz="1600" dirty="0"/>
              <a:t>Reduces redundant memory traffic and optimizes cache usage.</a:t>
            </a:r>
          </a:p>
          <a:p>
            <a:pPr marL="742950" lvl="1" indent="-285750">
              <a:buFont typeface="Arial" panose="020B0604020202020204" pitchFamily="34" charset="0"/>
              <a:buChar char="•"/>
            </a:pPr>
            <a:r>
              <a:rPr lang="en-US" sz="1600" dirty="0"/>
              <a:t>Energy consumption reduced by up to 40% using spatial and temporal data locality optimizations.</a:t>
            </a:r>
          </a:p>
          <a:p>
            <a:pPr>
              <a:buFont typeface="Arial" panose="020B0604020202020204" pitchFamily="34" charset="0"/>
              <a:buChar char="•"/>
            </a:pPr>
            <a:r>
              <a:rPr lang="en-US" sz="1600" b="1" dirty="0"/>
              <a:t>Dynamic Resource </a:t>
            </a:r>
            <a:r>
              <a:rPr lang="en-US" sz="2000" b="1" dirty="0"/>
              <a:t>Allocation</a:t>
            </a:r>
            <a:r>
              <a:rPr lang="en-US" sz="1600" b="1" dirty="0"/>
              <a:t>:</a:t>
            </a:r>
            <a:endParaRPr lang="en-US" sz="1600" dirty="0"/>
          </a:p>
          <a:p>
            <a:pPr marL="742950" lvl="1" indent="-285750">
              <a:buFont typeface="Arial" panose="020B0604020202020204" pitchFamily="34" charset="0"/>
              <a:buChar char="•"/>
            </a:pPr>
            <a:r>
              <a:rPr lang="en-US" sz="1600" dirty="0"/>
              <a:t>Real-time adjustment of GPU resources minimizes idle power while maintaining throughput.</a:t>
            </a:r>
          </a:p>
          <a:p>
            <a:pPr marL="742950" lvl="1" indent="-285750">
              <a:buFont typeface="Arial" panose="020B0604020202020204" pitchFamily="34" charset="0"/>
              <a:buChar char="•"/>
            </a:pPr>
            <a:r>
              <a:rPr lang="en-US" sz="1600" dirty="0"/>
              <a:t>Achieves up to 2.9× energy efficiency improvements in variable workloads.</a:t>
            </a:r>
          </a:p>
          <a:p>
            <a:pPr>
              <a:buFont typeface="Arial" panose="020B0604020202020204" pitchFamily="34" charset="0"/>
              <a:buChar char="•"/>
            </a:pPr>
            <a:r>
              <a:rPr lang="en-US" sz="1600" b="1" dirty="0"/>
              <a:t>Thermal Management Innovations:</a:t>
            </a:r>
            <a:endParaRPr lang="en-US" sz="1600" dirty="0"/>
          </a:p>
          <a:p>
            <a:pPr marL="742950" lvl="1" indent="-285750">
              <a:buFont typeface="Arial" panose="020B0604020202020204" pitchFamily="34" charset="0"/>
              <a:buChar char="•"/>
            </a:pPr>
            <a:r>
              <a:rPr lang="en-US" sz="1600" dirty="0"/>
              <a:t>Advanced techniques like micro-channel cooling, MR-MUF, and graphene-coated interposers ensure efficient heat dissipation.</a:t>
            </a:r>
          </a:p>
          <a:p>
            <a:pPr marL="742950" lvl="1" indent="-285750">
              <a:buFont typeface="Arial" panose="020B0604020202020204" pitchFamily="34" charset="0"/>
              <a:buChar char="•"/>
            </a:pPr>
            <a:r>
              <a:rPr lang="en-US" sz="1600" dirty="0"/>
              <a:t>Enables safe scaling of memory stacks such as HBM3E.</a:t>
            </a:r>
          </a:p>
          <a:p>
            <a:r>
              <a:rPr lang="en-US" sz="1600" dirty="0"/>
              <a:t>With energy efficiency addressed, we turn to innovations enhancing control flow and resource utilization in GPUs.</a:t>
            </a:r>
          </a:p>
        </p:txBody>
      </p:sp>
      <p:pic>
        <p:nvPicPr>
          <p:cNvPr id="20" name="Picture 19" descr="A diagram of a graph&#10;&#10;Description automatically generated with medium confidence">
            <a:extLst>
              <a:ext uri="{FF2B5EF4-FFF2-40B4-BE49-F238E27FC236}">
                <a16:creationId xmlns:a16="http://schemas.microsoft.com/office/drawing/2014/main" id="{60DE9138-287E-050E-B15D-F70D960833B7}"/>
              </a:ext>
            </a:extLst>
          </p:cNvPr>
          <p:cNvPicPr>
            <a:picLocks noChangeAspect="1"/>
          </p:cNvPicPr>
          <p:nvPr/>
        </p:nvPicPr>
        <p:blipFill>
          <a:blip r:embed="rId3"/>
          <a:stretch>
            <a:fillRect/>
          </a:stretch>
        </p:blipFill>
        <p:spPr>
          <a:xfrm>
            <a:off x="6152096" y="955623"/>
            <a:ext cx="5864783" cy="2215840"/>
          </a:xfrm>
          <a:prstGeom prst="rect">
            <a:avLst/>
          </a:prstGeom>
          <a:ln>
            <a:solidFill>
              <a:schemeClr val="tx1"/>
            </a:solidFill>
          </a:ln>
        </p:spPr>
      </p:pic>
      <p:sp>
        <p:nvSpPr>
          <p:cNvPr id="29" name="TextBox 28">
            <a:extLst>
              <a:ext uri="{FF2B5EF4-FFF2-40B4-BE49-F238E27FC236}">
                <a16:creationId xmlns:a16="http://schemas.microsoft.com/office/drawing/2014/main" id="{95A508B3-F06A-0167-4A60-F0C1039F18C3}"/>
              </a:ext>
            </a:extLst>
          </p:cNvPr>
          <p:cNvSpPr txBox="1"/>
          <p:nvPr/>
        </p:nvSpPr>
        <p:spPr>
          <a:xfrm>
            <a:off x="6096000" y="3171463"/>
            <a:ext cx="5864783" cy="584775"/>
          </a:xfrm>
          <a:prstGeom prst="rect">
            <a:avLst/>
          </a:prstGeom>
          <a:noFill/>
        </p:spPr>
        <p:txBody>
          <a:bodyPr wrap="square" rtlCol="0">
            <a:spAutoFit/>
          </a:bodyPr>
          <a:lstStyle/>
          <a:p>
            <a:r>
              <a:rPr lang="en-US" sz="1600" dirty="0">
                <a:latin typeface="+mj-lt"/>
              </a:rPr>
              <a:t>Fig 5. </a:t>
            </a:r>
            <a:r>
              <a:rPr lang="en-US" sz="1600" dirty="0">
                <a:effectLst/>
                <a:latin typeface="+mj-lt"/>
                <a:ea typeface="Times New Roman" panose="02020603050405020304" pitchFamily="18" charset="0"/>
              </a:rPr>
              <a:t>A breakdown of DRAM power (Watt, left axis) and the corresponding Perf/Watt (normalized to CG-only, right axis). </a:t>
            </a:r>
          </a:p>
        </p:txBody>
      </p:sp>
      <p:pic>
        <p:nvPicPr>
          <p:cNvPr id="31" name="Picture 30" descr="A diagram of a bump formation&#10;&#10;Description automatically generated">
            <a:extLst>
              <a:ext uri="{FF2B5EF4-FFF2-40B4-BE49-F238E27FC236}">
                <a16:creationId xmlns:a16="http://schemas.microsoft.com/office/drawing/2014/main" id="{D5F9E887-084A-04A4-A435-5D74755A4EE2}"/>
              </a:ext>
            </a:extLst>
          </p:cNvPr>
          <p:cNvPicPr>
            <a:picLocks noChangeAspect="1"/>
          </p:cNvPicPr>
          <p:nvPr/>
        </p:nvPicPr>
        <p:blipFill>
          <a:blip r:embed="rId4"/>
          <a:stretch>
            <a:fillRect/>
          </a:stretch>
        </p:blipFill>
        <p:spPr>
          <a:xfrm>
            <a:off x="6096000" y="3841436"/>
            <a:ext cx="4292600" cy="2159000"/>
          </a:xfrm>
          <a:prstGeom prst="rect">
            <a:avLst/>
          </a:prstGeom>
        </p:spPr>
      </p:pic>
      <p:sp>
        <p:nvSpPr>
          <p:cNvPr id="32" name="TextBox 31">
            <a:extLst>
              <a:ext uri="{FF2B5EF4-FFF2-40B4-BE49-F238E27FC236}">
                <a16:creationId xmlns:a16="http://schemas.microsoft.com/office/drawing/2014/main" id="{66CCFDB9-6517-99C6-CA87-EF1873208328}"/>
              </a:ext>
            </a:extLst>
          </p:cNvPr>
          <p:cNvSpPr txBox="1"/>
          <p:nvPr/>
        </p:nvSpPr>
        <p:spPr>
          <a:xfrm>
            <a:off x="6096000" y="5916845"/>
            <a:ext cx="5864783" cy="584775"/>
          </a:xfrm>
          <a:prstGeom prst="rect">
            <a:avLst/>
          </a:prstGeom>
          <a:noFill/>
        </p:spPr>
        <p:txBody>
          <a:bodyPr wrap="square" rtlCol="0">
            <a:spAutoFit/>
          </a:bodyPr>
          <a:lstStyle/>
          <a:p>
            <a:r>
              <a:rPr lang="en-US" sz="1600" dirty="0">
                <a:latin typeface="+mj-lt"/>
              </a:rPr>
              <a:t>Fig 6. Thermal resistance according to MR-MUF process improvement</a:t>
            </a:r>
          </a:p>
        </p:txBody>
      </p:sp>
    </p:spTree>
    <p:extLst>
      <p:ext uri="{BB962C8B-B14F-4D97-AF65-F5344CB8AC3E}">
        <p14:creationId xmlns:p14="http://schemas.microsoft.com/office/powerpoint/2010/main" val="35139464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5346C635-D6B1-5B01-5221-DCFDCE5D186B}"/>
              </a:ext>
            </a:extLst>
          </p:cNvPr>
          <p:cNvSpPr>
            <a:spLocks noGrp="1"/>
          </p:cNvSpPr>
          <p:nvPr>
            <p:ph type="sldNum" sz="quarter" idx="12"/>
          </p:nvPr>
        </p:nvSpPr>
        <p:spPr>
          <a:xfrm>
            <a:off x="9448800" y="6492875"/>
            <a:ext cx="2743200" cy="365125"/>
          </a:xfrm>
        </p:spPr>
        <p:txBody>
          <a:bodyPr/>
          <a:lstStyle/>
          <a:p>
            <a:fld id="{A2B8AF6F-4499-469B-A785-387A354EAEF5}" type="slidenum">
              <a:rPr lang="en-US" smtClean="0"/>
              <a:t>5</a:t>
            </a:fld>
            <a:endParaRPr lang="en-US"/>
          </a:p>
        </p:txBody>
      </p:sp>
      <p:sp>
        <p:nvSpPr>
          <p:cNvPr id="2" name="Title 1">
            <a:extLst>
              <a:ext uri="{FF2B5EF4-FFF2-40B4-BE49-F238E27FC236}">
                <a16:creationId xmlns:a16="http://schemas.microsoft.com/office/drawing/2014/main" id="{1F90830F-6211-3D76-C2A7-9C6DF051848F}"/>
              </a:ext>
            </a:extLst>
          </p:cNvPr>
          <p:cNvSpPr txBox="1">
            <a:spLocks/>
          </p:cNvSpPr>
          <p:nvPr/>
        </p:nvSpPr>
        <p:spPr>
          <a:xfrm>
            <a:off x="-382609" y="-1742154"/>
            <a:ext cx="12045757" cy="702220"/>
          </a:xfrm>
          <a:prstGeom prst="rect">
            <a:avLst/>
          </a:prstGeom>
        </p:spPr>
        <p:txBody>
          <a:bodyPr vert="horz" lIns="91440" tIns="45720" rIns="91440" bIns="45720" rtlCol="0" anchor="b">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endParaRPr kumimoji="0" lang="en-US" sz="4000" b="0" i="0" u="none" strike="noStrike" kern="1200" cap="none" spc="0" normalizeH="0" baseline="0" noProof="0">
              <a:ln>
                <a:noFill/>
              </a:ln>
              <a:solidFill>
                <a:sysClr val="windowText" lastClr="000000"/>
              </a:solidFill>
              <a:effectLst/>
              <a:uLnTx/>
              <a:uFillTx/>
              <a:latin typeface="Aptos Display" panose="02110004020202020204"/>
              <a:ea typeface="+mj-ea"/>
              <a:cs typeface="+mj-cs"/>
            </a:endParaRPr>
          </a:p>
        </p:txBody>
      </p:sp>
      <p:sp>
        <p:nvSpPr>
          <p:cNvPr id="11" name="Title 1">
            <a:extLst>
              <a:ext uri="{FF2B5EF4-FFF2-40B4-BE49-F238E27FC236}">
                <a16:creationId xmlns:a16="http://schemas.microsoft.com/office/drawing/2014/main" id="{5F482C6B-069D-49F1-8E26-254FCAF62419}"/>
              </a:ext>
            </a:extLst>
          </p:cNvPr>
          <p:cNvSpPr txBox="1">
            <a:spLocks/>
          </p:cNvSpPr>
          <p:nvPr/>
        </p:nvSpPr>
        <p:spPr>
          <a:xfrm>
            <a:off x="304798" y="-111864"/>
            <a:ext cx="11257313" cy="644434"/>
          </a:xfrm>
          <a:prstGeom prst="rect">
            <a:avLst/>
          </a:prstGeom>
        </p:spPr>
        <p:txBody>
          <a:bodyPr vert="horz" lIns="91440" tIns="45720" rIns="91440" bIns="45720" rtlCol="0" anchor="b">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lang="en-US" sz="3200" b="1" dirty="0">
                <a:solidFill>
                  <a:srgbClr val="D51C2C"/>
                </a:solidFill>
                <a:latin typeface="Aptos Display" panose="02110004020202020204"/>
              </a:rPr>
              <a:t>SIMT for Diverse GPU Workloads </a:t>
            </a:r>
          </a:p>
        </p:txBody>
      </p:sp>
      <p:grpSp>
        <p:nvGrpSpPr>
          <p:cNvPr id="12" name="Group 19">
            <a:extLst>
              <a:ext uri="{FF2B5EF4-FFF2-40B4-BE49-F238E27FC236}">
                <a16:creationId xmlns:a16="http://schemas.microsoft.com/office/drawing/2014/main" id="{A034D8BC-05E1-BDCE-D437-94E9C644920C}"/>
              </a:ext>
            </a:extLst>
          </p:cNvPr>
          <p:cNvGrpSpPr/>
          <p:nvPr/>
        </p:nvGrpSpPr>
        <p:grpSpPr>
          <a:xfrm>
            <a:off x="-1591674" y="-1521643"/>
            <a:ext cx="1896472" cy="10828883"/>
            <a:chOff x="0" y="-57150"/>
            <a:chExt cx="499482" cy="2852052"/>
          </a:xfrm>
        </p:grpSpPr>
        <p:sp>
          <p:nvSpPr>
            <p:cNvPr id="13" name="Freeform 20">
              <a:extLst>
                <a:ext uri="{FF2B5EF4-FFF2-40B4-BE49-F238E27FC236}">
                  <a16:creationId xmlns:a16="http://schemas.microsoft.com/office/drawing/2014/main" id="{80D261EF-940F-54A5-61E4-F3BBBB950E74}"/>
                </a:ext>
              </a:extLst>
            </p:cNvPr>
            <p:cNvSpPr/>
            <p:nvPr/>
          </p:nvSpPr>
          <p:spPr>
            <a:xfrm>
              <a:off x="0" y="0"/>
              <a:ext cx="499482" cy="2794901"/>
            </a:xfrm>
            <a:custGeom>
              <a:avLst/>
              <a:gdLst/>
              <a:ahLst/>
              <a:cxnLst/>
              <a:rect l="l" t="t" r="r" b="b"/>
              <a:pathLst>
                <a:path w="499482" h="2794901">
                  <a:moveTo>
                    <a:pt x="0" y="0"/>
                  </a:moveTo>
                  <a:lnTo>
                    <a:pt x="499482" y="0"/>
                  </a:lnTo>
                  <a:lnTo>
                    <a:pt x="499482" y="2794901"/>
                  </a:lnTo>
                  <a:lnTo>
                    <a:pt x="0" y="2794901"/>
                  </a:lnTo>
                  <a:close/>
                </a:path>
              </a:pathLst>
            </a:custGeom>
            <a:solidFill>
              <a:srgbClr val="AF2929"/>
            </a:solidFill>
          </p:spPr>
          <p:txBody>
            <a:bodyPr/>
            <a:lstStyle/>
            <a:p>
              <a:endParaRPr lang="en-US">
                <a:solidFill>
                  <a:prstClr val="black"/>
                </a:solidFill>
                <a:latin typeface="Calibri"/>
              </a:endParaRPr>
            </a:p>
          </p:txBody>
        </p:sp>
        <p:sp>
          <p:nvSpPr>
            <p:cNvPr id="14" name="TextBox 21">
              <a:extLst>
                <a:ext uri="{FF2B5EF4-FFF2-40B4-BE49-F238E27FC236}">
                  <a16:creationId xmlns:a16="http://schemas.microsoft.com/office/drawing/2014/main" id="{BF05B6CB-A6FD-2724-E2D4-9BFC977C75C0}"/>
                </a:ext>
              </a:extLst>
            </p:cNvPr>
            <p:cNvSpPr txBox="1"/>
            <p:nvPr/>
          </p:nvSpPr>
          <p:spPr>
            <a:xfrm>
              <a:off x="0" y="-57150"/>
              <a:ext cx="499482" cy="2852052"/>
            </a:xfrm>
            <a:prstGeom prst="rect">
              <a:avLst/>
            </a:prstGeom>
          </p:spPr>
          <p:txBody>
            <a:bodyPr lIns="50800" tIns="50800" rIns="50800" bIns="50800" rtlCol="0" anchor="ctr"/>
            <a:lstStyle/>
            <a:p>
              <a:pPr algn="ctr">
                <a:lnSpc>
                  <a:spcPts val="3396"/>
                </a:lnSpc>
              </a:pPr>
              <a:endParaRPr>
                <a:solidFill>
                  <a:prstClr val="black"/>
                </a:solidFill>
                <a:latin typeface="Calibri"/>
              </a:endParaRPr>
            </a:p>
          </p:txBody>
        </p:sp>
      </p:grpSp>
      <p:sp>
        <p:nvSpPr>
          <p:cNvPr id="5" name="TextBox 4">
            <a:extLst>
              <a:ext uri="{FF2B5EF4-FFF2-40B4-BE49-F238E27FC236}">
                <a16:creationId xmlns:a16="http://schemas.microsoft.com/office/drawing/2014/main" id="{6EF2502C-E234-16E3-149A-24F31D9E2581}"/>
              </a:ext>
            </a:extLst>
          </p:cNvPr>
          <p:cNvSpPr txBox="1"/>
          <p:nvPr/>
        </p:nvSpPr>
        <p:spPr>
          <a:xfrm>
            <a:off x="304798" y="644434"/>
            <a:ext cx="6906230" cy="5909310"/>
          </a:xfrm>
          <a:prstGeom prst="rect">
            <a:avLst/>
          </a:prstGeom>
          <a:noFill/>
        </p:spPr>
        <p:txBody>
          <a:bodyPr wrap="square" rtlCol="0">
            <a:spAutoFit/>
          </a:bodyPr>
          <a:lstStyle/>
          <a:p>
            <a:pPr>
              <a:buFont typeface="Arial" panose="020B0604020202020204" pitchFamily="34" charset="0"/>
              <a:buChar char="•"/>
            </a:pPr>
            <a:r>
              <a:rPr lang="en-US" b="1" dirty="0"/>
              <a:t>Key Challenge:</a:t>
            </a:r>
            <a:br>
              <a:rPr lang="en-US" dirty="0"/>
            </a:br>
            <a:r>
              <a:rPr lang="en-US" dirty="0"/>
              <a:t>Control flow divergence in SIMT (Single Instruction, Multiple Threads) reduces warp efficiency and resource utilization.</a:t>
            </a:r>
          </a:p>
          <a:p>
            <a:pPr>
              <a:buFont typeface="Arial" panose="020B0604020202020204" pitchFamily="34" charset="0"/>
              <a:buChar char="•"/>
            </a:pPr>
            <a:r>
              <a:rPr lang="en-US" b="1" dirty="0"/>
              <a:t>Techniques to Address Divergence:</a:t>
            </a:r>
            <a:endParaRPr lang="en-US" dirty="0"/>
          </a:p>
          <a:p>
            <a:pPr marL="742950" lvl="1" indent="-285750">
              <a:buFont typeface="Arial" panose="020B0604020202020204" pitchFamily="34" charset="0"/>
              <a:buChar char="•"/>
            </a:pPr>
            <a:r>
              <a:rPr lang="en-US" b="1" dirty="0"/>
              <a:t>Thread Block Compaction (TBC):</a:t>
            </a:r>
            <a:endParaRPr lang="en-US" dirty="0"/>
          </a:p>
          <a:p>
            <a:pPr marL="1143000" lvl="2" indent="-228600">
              <a:buFont typeface="Arial" panose="020B0604020202020204" pitchFamily="34" charset="0"/>
              <a:buChar char="•"/>
            </a:pPr>
            <a:r>
              <a:rPr lang="en-US" dirty="0"/>
              <a:t>Dynamically groups threads with similar execution paths.</a:t>
            </a:r>
          </a:p>
          <a:p>
            <a:pPr marL="1143000" lvl="2" indent="-228600">
              <a:buFont typeface="Arial" panose="020B0604020202020204" pitchFamily="34" charset="0"/>
              <a:buChar char="•"/>
            </a:pPr>
            <a:r>
              <a:rPr lang="en-US" dirty="0"/>
              <a:t>Achieves up to </a:t>
            </a:r>
            <a:r>
              <a:rPr lang="en-US" b="1" dirty="0"/>
              <a:t>22% higher IPC</a:t>
            </a:r>
            <a:r>
              <a:rPr lang="en-US" dirty="0"/>
              <a:t> and reduces instruction stalls by 30%.</a:t>
            </a:r>
          </a:p>
          <a:p>
            <a:pPr marL="742950" lvl="1" indent="-285750">
              <a:buFont typeface="Arial" panose="020B0604020202020204" pitchFamily="34" charset="0"/>
              <a:buChar char="•"/>
            </a:pPr>
            <a:r>
              <a:rPr lang="en-US" b="1" dirty="0"/>
              <a:t>Dynamic Warp Formation (DWF):</a:t>
            </a:r>
            <a:endParaRPr lang="en-US" dirty="0"/>
          </a:p>
          <a:p>
            <a:pPr marL="1143000" lvl="2" indent="-228600">
              <a:buFont typeface="Arial" panose="020B0604020202020204" pitchFamily="34" charset="0"/>
              <a:buChar char="•"/>
            </a:pPr>
            <a:r>
              <a:rPr lang="en-US" dirty="0"/>
              <a:t>Reassigns threads during execution to new warps.</a:t>
            </a:r>
          </a:p>
          <a:p>
            <a:pPr marL="1143000" lvl="2" indent="-228600">
              <a:buFont typeface="Arial" panose="020B0604020202020204" pitchFamily="34" charset="0"/>
              <a:buChar char="•"/>
            </a:pPr>
            <a:r>
              <a:rPr lang="en-US" dirty="0"/>
              <a:t>Particularly effective in nested control flows but introduces slight scheduling overhead.</a:t>
            </a:r>
          </a:p>
          <a:p>
            <a:pPr marL="742950" lvl="1" indent="-285750">
              <a:buFont typeface="Arial" panose="020B0604020202020204" pitchFamily="34" charset="0"/>
              <a:buChar char="•"/>
            </a:pPr>
            <a:r>
              <a:rPr lang="en-US" b="1" dirty="0"/>
              <a:t>Hybrid Techniques:</a:t>
            </a:r>
            <a:endParaRPr lang="en-US" dirty="0"/>
          </a:p>
          <a:p>
            <a:pPr marL="1143000" lvl="2" indent="-228600">
              <a:buFont typeface="Arial" panose="020B0604020202020204" pitchFamily="34" charset="0"/>
              <a:buChar char="•"/>
            </a:pPr>
            <a:r>
              <a:rPr lang="en-US" dirty="0"/>
              <a:t>Combine TBC and DWF with warp prioritization for balanced fairness and efficiency.</a:t>
            </a:r>
          </a:p>
          <a:p>
            <a:pPr>
              <a:buFont typeface="Arial" panose="020B0604020202020204" pitchFamily="34" charset="0"/>
              <a:buChar char="•"/>
            </a:pPr>
            <a:r>
              <a:rPr lang="en-US" b="1" dirty="0"/>
              <a:t>Performance Gains:</a:t>
            </a:r>
            <a:endParaRPr lang="en-US" dirty="0"/>
          </a:p>
          <a:p>
            <a:pPr marL="742950" lvl="1" indent="-285750">
              <a:buFont typeface="Arial" panose="020B0604020202020204" pitchFamily="34" charset="0"/>
              <a:buChar char="•"/>
            </a:pPr>
            <a:r>
              <a:rPr lang="en-US" dirty="0"/>
              <a:t>Up to </a:t>
            </a:r>
            <a:r>
              <a:rPr lang="en-US" b="1" dirty="0"/>
              <a:t>36% reduction in clock cycles</a:t>
            </a:r>
            <a:r>
              <a:rPr lang="en-US" dirty="0"/>
              <a:t> for BFS traversal workloads.</a:t>
            </a:r>
          </a:p>
          <a:p>
            <a:pPr marL="742950" lvl="1" indent="-285750">
              <a:buFont typeface="Arial" panose="020B0604020202020204" pitchFamily="34" charset="0"/>
              <a:buChar char="•"/>
            </a:pPr>
            <a:r>
              <a:rPr lang="en-US" dirty="0"/>
              <a:t>Hybrid traversal achieves </a:t>
            </a:r>
            <a:r>
              <a:rPr lang="en-US" b="1" dirty="0"/>
              <a:t>2.5× speedup</a:t>
            </a:r>
            <a:r>
              <a:rPr lang="en-US" dirty="0"/>
              <a:t> over thread-centric approaches.</a:t>
            </a:r>
          </a:p>
        </p:txBody>
      </p:sp>
      <p:pic>
        <p:nvPicPr>
          <p:cNvPr id="6" name="Picture 5" descr="A chart of multiple colored bars&#10;&#10;Description automatically generated with medium confidence">
            <a:extLst>
              <a:ext uri="{FF2B5EF4-FFF2-40B4-BE49-F238E27FC236}">
                <a16:creationId xmlns:a16="http://schemas.microsoft.com/office/drawing/2014/main" id="{A45CC147-75C1-AC3F-C05F-46EA57223243}"/>
              </a:ext>
            </a:extLst>
          </p:cNvPr>
          <p:cNvPicPr>
            <a:picLocks noChangeAspect="1"/>
          </p:cNvPicPr>
          <p:nvPr/>
        </p:nvPicPr>
        <p:blipFill>
          <a:blip r:embed="rId3"/>
          <a:stretch>
            <a:fillRect/>
          </a:stretch>
        </p:blipFill>
        <p:spPr>
          <a:xfrm>
            <a:off x="7491014" y="578418"/>
            <a:ext cx="2993720" cy="3445577"/>
          </a:xfrm>
          <a:prstGeom prst="rect">
            <a:avLst/>
          </a:prstGeom>
          <a:ln>
            <a:solidFill>
              <a:schemeClr val="tx1"/>
            </a:solidFill>
          </a:ln>
        </p:spPr>
      </p:pic>
      <p:sp>
        <p:nvSpPr>
          <p:cNvPr id="7" name="TextBox 6">
            <a:extLst>
              <a:ext uri="{FF2B5EF4-FFF2-40B4-BE49-F238E27FC236}">
                <a16:creationId xmlns:a16="http://schemas.microsoft.com/office/drawing/2014/main" id="{6DD2FD23-21A1-8B1D-DBD7-365682AD05FB}"/>
              </a:ext>
            </a:extLst>
          </p:cNvPr>
          <p:cNvSpPr txBox="1"/>
          <p:nvPr/>
        </p:nvSpPr>
        <p:spPr>
          <a:xfrm>
            <a:off x="7491014" y="4069843"/>
            <a:ext cx="4396188" cy="830997"/>
          </a:xfrm>
          <a:prstGeom prst="rect">
            <a:avLst/>
          </a:prstGeom>
          <a:noFill/>
        </p:spPr>
        <p:txBody>
          <a:bodyPr wrap="square" rtlCol="0">
            <a:spAutoFit/>
          </a:bodyPr>
          <a:lstStyle/>
          <a:p>
            <a:pPr marL="0" marR="0"/>
            <a:r>
              <a:rPr lang="en-US" sz="1600" dirty="0">
                <a:effectLst/>
                <a:latin typeface="+mj-lt"/>
                <a:ea typeface="Times New Roman" panose="02020603050405020304" pitchFamily="18" charset="0"/>
              </a:rPr>
              <a:t>Fig 7. Detail performance data of TBC and DWF relative to baseline (PDOM) for the DIVG </a:t>
            </a:r>
            <a:r>
              <a:rPr lang="en-US" sz="1600" kern="0" dirty="0">
                <a:effectLst/>
                <a:latin typeface="+mj-lt"/>
                <a:ea typeface="Times New Roman" panose="02020603050405020304" pitchFamily="18" charset="0"/>
              </a:rPr>
              <a:t>benchmark set</a:t>
            </a:r>
            <a:r>
              <a:rPr lang="en-US" sz="1600" dirty="0">
                <a:effectLst/>
                <a:latin typeface="+mj-lt"/>
              </a:rPr>
              <a:t> </a:t>
            </a:r>
            <a:endParaRPr lang="en-US" sz="1600" dirty="0">
              <a:latin typeface="+mj-lt"/>
            </a:endParaRPr>
          </a:p>
        </p:txBody>
      </p:sp>
      <p:pic>
        <p:nvPicPr>
          <p:cNvPr id="2050" name="Picture 2" descr="Decision Trees: Complete Guide to Decision Tree Analysis">
            <a:extLst>
              <a:ext uri="{FF2B5EF4-FFF2-40B4-BE49-F238E27FC236}">
                <a16:creationId xmlns:a16="http://schemas.microsoft.com/office/drawing/2014/main" id="{CC3245C3-2E47-4BAF-C26A-B5916CC4B24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491014" y="4642363"/>
            <a:ext cx="2993720" cy="1492962"/>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31438194-65D5-E1F0-051F-4B14D658E617}"/>
              </a:ext>
            </a:extLst>
          </p:cNvPr>
          <p:cNvSpPr txBox="1"/>
          <p:nvPr/>
        </p:nvSpPr>
        <p:spPr>
          <a:xfrm>
            <a:off x="7375268" y="6108769"/>
            <a:ext cx="4905471" cy="830997"/>
          </a:xfrm>
          <a:prstGeom prst="rect">
            <a:avLst/>
          </a:prstGeom>
          <a:noFill/>
        </p:spPr>
        <p:txBody>
          <a:bodyPr wrap="square" rtlCol="0">
            <a:spAutoFit/>
          </a:bodyPr>
          <a:lstStyle/>
          <a:p>
            <a:pPr marL="0" marR="0"/>
            <a:r>
              <a:rPr lang="en-US" sz="1600" dirty="0">
                <a:effectLst/>
                <a:latin typeface="+mj-lt"/>
                <a:ea typeface="Times New Roman" panose="02020603050405020304" pitchFamily="18" charset="0"/>
              </a:rPr>
              <a:t>Fig 8.</a:t>
            </a:r>
            <a:r>
              <a:rPr lang="en-US" sz="1600" dirty="0">
                <a:latin typeface="+mj-lt"/>
              </a:rPr>
              <a:t> Dynamic thread grouping optimizes warp utilization, reducing idle cycles and enhancing throughput in divergent workloads.</a:t>
            </a:r>
          </a:p>
        </p:txBody>
      </p:sp>
    </p:spTree>
    <p:extLst>
      <p:ext uri="{BB962C8B-B14F-4D97-AF65-F5344CB8AC3E}">
        <p14:creationId xmlns:p14="http://schemas.microsoft.com/office/powerpoint/2010/main" val="32322368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5346C635-D6B1-5B01-5221-DCFDCE5D186B}"/>
              </a:ext>
            </a:extLst>
          </p:cNvPr>
          <p:cNvSpPr>
            <a:spLocks noGrp="1"/>
          </p:cNvSpPr>
          <p:nvPr>
            <p:ph type="sldNum" sz="quarter" idx="12"/>
          </p:nvPr>
        </p:nvSpPr>
        <p:spPr>
          <a:xfrm>
            <a:off x="9441966" y="6492875"/>
            <a:ext cx="2743200" cy="365125"/>
          </a:xfrm>
        </p:spPr>
        <p:txBody>
          <a:bodyPr/>
          <a:lstStyle/>
          <a:p>
            <a:fld id="{A2B8AF6F-4499-469B-A785-387A354EAEF5}" type="slidenum">
              <a:rPr lang="en-US" smtClean="0"/>
              <a:t>6</a:t>
            </a:fld>
            <a:endParaRPr lang="en-US"/>
          </a:p>
        </p:txBody>
      </p:sp>
      <p:sp>
        <p:nvSpPr>
          <p:cNvPr id="11" name="Title 1">
            <a:extLst>
              <a:ext uri="{FF2B5EF4-FFF2-40B4-BE49-F238E27FC236}">
                <a16:creationId xmlns:a16="http://schemas.microsoft.com/office/drawing/2014/main" id="{A6E083DE-D4B6-C7ED-4D82-DAD41B886D7B}"/>
              </a:ext>
            </a:extLst>
          </p:cNvPr>
          <p:cNvSpPr txBox="1">
            <a:spLocks/>
          </p:cNvSpPr>
          <p:nvPr/>
        </p:nvSpPr>
        <p:spPr>
          <a:xfrm>
            <a:off x="304798" y="-1353520"/>
            <a:ext cx="7728089" cy="1241421"/>
          </a:xfrm>
          <a:prstGeom prst="rect">
            <a:avLst/>
          </a:prstGeom>
        </p:spPr>
        <p:txBody>
          <a:bodyPr vert="horz" lIns="91440" tIns="45720" rIns="91440" bIns="45720" rtlCol="0" anchor="b">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endParaRPr kumimoji="0" lang="en-US" sz="3600" b="0" i="0" u="none" strike="noStrike" kern="1200" cap="none" spc="0" normalizeH="0" baseline="0" noProof="0">
              <a:ln>
                <a:noFill/>
              </a:ln>
              <a:solidFill>
                <a:sysClr val="windowText" lastClr="000000"/>
              </a:solidFill>
              <a:effectLst/>
              <a:uLnTx/>
              <a:uFillTx/>
              <a:latin typeface="Aptos Display" panose="02110004020202020204"/>
              <a:ea typeface="+mj-ea"/>
              <a:cs typeface="+mj-cs"/>
            </a:endParaRPr>
          </a:p>
        </p:txBody>
      </p:sp>
      <p:sp>
        <p:nvSpPr>
          <p:cNvPr id="12" name="Content Placeholder 2">
            <a:extLst>
              <a:ext uri="{FF2B5EF4-FFF2-40B4-BE49-F238E27FC236}">
                <a16:creationId xmlns:a16="http://schemas.microsoft.com/office/drawing/2014/main" id="{3619EF8B-BD23-BA71-53A3-FE667BB8D7B9}"/>
              </a:ext>
            </a:extLst>
          </p:cNvPr>
          <p:cNvSpPr txBox="1">
            <a:spLocks/>
          </p:cNvSpPr>
          <p:nvPr/>
        </p:nvSpPr>
        <p:spPr>
          <a:xfrm>
            <a:off x="378185" y="923829"/>
            <a:ext cx="7168509" cy="5569046"/>
          </a:xfrm>
          <a:prstGeom prst="rect">
            <a:avLst/>
          </a:prstGeom>
        </p:spPr>
        <p:txBody>
          <a:bodyPr vert="horz" lIns="91440" tIns="45720" rIns="91440" bIns="45720" rtlCol="0" anchor="t">
            <a:normAutofit fontScale="9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900" b="1" dirty="0"/>
              <a:t>Key Challenges and Innovations</a:t>
            </a:r>
          </a:p>
          <a:p>
            <a:pPr>
              <a:buFont typeface="Arial" panose="020B0604020202020204" pitchFamily="34" charset="0"/>
              <a:buChar char="•"/>
            </a:pPr>
            <a:r>
              <a:rPr lang="en-US" sz="1900" b="1" dirty="0"/>
              <a:t>Logic-Based HBM Integration</a:t>
            </a:r>
            <a:r>
              <a:rPr lang="en-US" sz="1900" dirty="0"/>
              <a:t>:</a:t>
            </a:r>
          </a:p>
          <a:p>
            <a:pPr marL="742950" lvl="1" indent="-285750">
              <a:buFont typeface="Arial" panose="020B0604020202020204" pitchFamily="34" charset="0"/>
              <a:buChar char="•"/>
            </a:pPr>
            <a:r>
              <a:rPr lang="en-US" sz="1900" dirty="0"/>
              <a:t>Embedding logic layers within HBM minimizes latency and energy costs.</a:t>
            </a:r>
          </a:p>
          <a:p>
            <a:pPr marL="742950" lvl="1" indent="-285750">
              <a:buFont typeface="Arial" panose="020B0604020202020204" pitchFamily="34" charset="0"/>
              <a:buChar char="•"/>
            </a:pPr>
            <a:r>
              <a:rPr lang="en-US" sz="1900" dirty="0"/>
              <a:t>Enhances bandwidth utilization and localized data processing efficiency.</a:t>
            </a:r>
          </a:p>
          <a:p>
            <a:pPr>
              <a:buFont typeface="Arial" panose="020B0604020202020204" pitchFamily="34" charset="0"/>
              <a:buChar char="•"/>
            </a:pPr>
            <a:r>
              <a:rPr lang="en-US" sz="1900" b="1" dirty="0" err="1"/>
              <a:t>Chiplet</a:t>
            </a:r>
            <a:r>
              <a:rPr lang="en-US" sz="1900" b="1" dirty="0"/>
              <a:t>-Based Architectures</a:t>
            </a:r>
            <a:r>
              <a:rPr lang="en-US" sz="1900" dirty="0"/>
              <a:t>:</a:t>
            </a:r>
          </a:p>
          <a:p>
            <a:pPr marL="742950" lvl="1" indent="-285750">
              <a:buFont typeface="Arial" panose="020B0604020202020204" pitchFamily="34" charset="0"/>
              <a:buChar char="•"/>
            </a:pPr>
            <a:r>
              <a:rPr lang="en-US" sz="1900" dirty="0"/>
              <a:t>Modular designs allow customizable GPU configurations.</a:t>
            </a:r>
          </a:p>
          <a:p>
            <a:pPr marL="742950" lvl="1" indent="-285750">
              <a:buFont typeface="Arial" panose="020B0604020202020204" pitchFamily="34" charset="0"/>
              <a:buChar char="•"/>
            </a:pPr>
            <a:r>
              <a:rPr lang="en-US" sz="1900" dirty="0"/>
              <a:t>Optimized for edge computing and AI inference.</a:t>
            </a:r>
            <a:r>
              <a:rPr lang="en-US" sz="1900" b="1" dirty="0"/>
              <a:t> </a:t>
            </a:r>
          </a:p>
          <a:p>
            <a:pPr marL="0" indent="0">
              <a:buNone/>
            </a:pPr>
            <a:r>
              <a:rPr lang="en-US" sz="1900" b="1" dirty="0"/>
              <a:t>Performance and Energy Efficiency Gains</a:t>
            </a:r>
          </a:p>
          <a:p>
            <a:pPr>
              <a:buFont typeface="Arial" panose="020B0604020202020204" pitchFamily="34" charset="0"/>
              <a:buChar char="•"/>
            </a:pPr>
            <a:r>
              <a:rPr lang="en-US" sz="1900" b="1" dirty="0"/>
              <a:t>Energy Efficiency</a:t>
            </a:r>
            <a:r>
              <a:rPr lang="en-US" sz="1900" dirty="0"/>
              <a:t>:</a:t>
            </a:r>
          </a:p>
          <a:p>
            <a:pPr marL="742950" lvl="1" indent="-285750">
              <a:buFont typeface="Arial" panose="020B0604020202020204" pitchFamily="34" charset="0"/>
              <a:buChar char="•"/>
            </a:pPr>
            <a:r>
              <a:rPr lang="en-US" sz="1900" dirty="0"/>
              <a:t>HBM3E reduces energy consumption by up to 30% compared to its predecessors.</a:t>
            </a:r>
          </a:p>
          <a:p>
            <a:pPr marL="742950" lvl="1" indent="-285750">
              <a:buFont typeface="Arial" panose="020B0604020202020204" pitchFamily="34" charset="0"/>
              <a:buChar char="•"/>
            </a:pPr>
            <a:r>
              <a:rPr lang="en-US" sz="1900" dirty="0"/>
              <a:t>Proximity of logic layers cuts energy costs by 50% in AI inference workloads.</a:t>
            </a:r>
          </a:p>
          <a:p>
            <a:pPr>
              <a:buFont typeface="Arial" panose="020B0604020202020204" pitchFamily="34" charset="0"/>
              <a:buChar char="•"/>
            </a:pPr>
            <a:r>
              <a:rPr lang="en-US" sz="1900" b="1" dirty="0"/>
              <a:t>Performance Gains</a:t>
            </a:r>
            <a:r>
              <a:rPr lang="en-US" sz="1900" dirty="0"/>
              <a:t>:</a:t>
            </a:r>
          </a:p>
          <a:p>
            <a:pPr marL="742950" lvl="1" indent="-285750">
              <a:buFont typeface="Arial" panose="020B0604020202020204" pitchFamily="34" charset="0"/>
              <a:buChar char="•"/>
            </a:pPr>
            <a:r>
              <a:rPr lang="en-US" sz="1900" dirty="0"/>
              <a:t>Over 1.2 TB/s bandwidth with HBM3 Gen2 accelerates AI models like GPT-4.</a:t>
            </a:r>
          </a:p>
          <a:p>
            <a:pPr marL="742950" lvl="1" indent="-285750">
              <a:buFont typeface="Arial" panose="020B0604020202020204" pitchFamily="34" charset="0"/>
              <a:buChar char="•"/>
            </a:pPr>
            <a:r>
              <a:rPr lang="en-US" sz="1900" dirty="0"/>
              <a:t>Combined HBM and </a:t>
            </a:r>
            <a:r>
              <a:rPr lang="en-US" sz="1900" dirty="0" err="1"/>
              <a:t>chiplets</a:t>
            </a:r>
            <a:r>
              <a:rPr lang="en-US" sz="1900" dirty="0"/>
              <a:t> deliver up to 40% faster data access.</a:t>
            </a:r>
            <a:endParaRPr lang="en-US" sz="1600" dirty="0"/>
          </a:p>
          <a:p>
            <a:pPr marL="0" indent="0">
              <a:buFont typeface="Arial" panose="020B0604020202020204" pitchFamily="34" charset="0"/>
              <a:buNone/>
            </a:pPr>
            <a:endParaRPr lang="en-US" sz="2200" dirty="0">
              <a:latin typeface="Times New Roman"/>
              <a:ea typeface="+mn-lt"/>
              <a:cs typeface="+mn-lt"/>
            </a:endParaRPr>
          </a:p>
        </p:txBody>
      </p:sp>
      <p:sp>
        <p:nvSpPr>
          <p:cNvPr id="18" name="Title 1">
            <a:extLst>
              <a:ext uri="{FF2B5EF4-FFF2-40B4-BE49-F238E27FC236}">
                <a16:creationId xmlns:a16="http://schemas.microsoft.com/office/drawing/2014/main" id="{26795E79-8D8F-A4F9-BD7B-84D15CF74F6C}"/>
              </a:ext>
            </a:extLst>
          </p:cNvPr>
          <p:cNvSpPr txBox="1">
            <a:spLocks/>
          </p:cNvSpPr>
          <p:nvPr/>
        </p:nvSpPr>
        <p:spPr>
          <a:xfrm>
            <a:off x="275529" y="10026"/>
            <a:ext cx="11640941" cy="576623"/>
          </a:xfrm>
          <a:prstGeom prst="rect">
            <a:avLst/>
          </a:prstGeom>
        </p:spPr>
        <p:txBody>
          <a:bodyPr vert="horz" lIns="91440" tIns="45720" rIns="91440" bIns="45720" rtlCol="0" anchor="b">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lang="en-US" sz="3200" b="1" dirty="0">
                <a:solidFill>
                  <a:srgbClr val="D51C2C"/>
                </a:solidFill>
                <a:latin typeface="Aptos Display" panose="02110004020202020204"/>
                <a:ea typeface="+mj-lt"/>
                <a:cs typeface="+mj-lt"/>
              </a:rPr>
              <a:t>HBM and </a:t>
            </a:r>
            <a:r>
              <a:rPr lang="en-US" sz="3200" b="1" dirty="0" err="1">
                <a:solidFill>
                  <a:srgbClr val="D51C2C"/>
                </a:solidFill>
                <a:latin typeface="Aptos Display" panose="02110004020202020204"/>
                <a:ea typeface="+mj-lt"/>
                <a:cs typeface="+mj-lt"/>
              </a:rPr>
              <a:t>Chiplet</a:t>
            </a:r>
            <a:r>
              <a:rPr lang="en-US" sz="3200" b="1" dirty="0">
                <a:solidFill>
                  <a:srgbClr val="D51C2C"/>
                </a:solidFill>
                <a:latin typeface="Aptos Display" panose="02110004020202020204"/>
                <a:ea typeface="+mj-lt"/>
                <a:cs typeface="+mj-lt"/>
              </a:rPr>
              <a:t> Synergy: Revolutionizing GPU Efficiency</a:t>
            </a:r>
          </a:p>
        </p:txBody>
      </p:sp>
      <p:grpSp>
        <p:nvGrpSpPr>
          <p:cNvPr id="24" name="Group 19">
            <a:extLst>
              <a:ext uri="{FF2B5EF4-FFF2-40B4-BE49-F238E27FC236}">
                <a16:creationId xmlns:a16="http://schemas.microsoft.com/office/drawing/2014/main" id="{C18E3D47-0630-4884-BEBE-4C3EA273DCE8}"/>
              </a:ext>
            </a:extLst>
          </p:cNvPr>
          <p:cNvGrpSpPr/>
          <p:nvPr/>
        </p:nvGrpSpPr>
        <p:grpSpPr>
          <a:xfrm>
            <a:off x="-1591674" y="-1521643"/>
            <a:ext cx="1896472" cy="10828883"/>
            <a:chOff x="0" y="-57150"/>
            <a:chExt cx="499482" cy="2852052"/>
          </a:xfrm>
        </p:grpSpPr>
        <p:sp>
          <p:nvSpPr>
            <p:cNvPr id="25" name="Freeform 20">
              <a:extLst>
                <a:ext uri="{FF2B5EF4-FFF2-40B4-BE49-F238E27FC236}">
                  <a16:creationId xmlns:a16="http://schemas.microsoft.com/office/drawing/2014/main" id="{30742A32-83BA-C8DF-41BD-C8F39CFF0AB9}"/>
                </a:ext>
              </a:extLst>
            </p:cNvPr>
            <p:cNvSpPr/>
            <p:nvPr/>
          </p:nvSpPr>
          <p:spPr>
            <a:xfrm>
              <a:off x="0" y="0"/>
              <a:ext cx="499482" cy="2794901"/>
            </a:xfrm>
            <a:custGeom>
              <a:avLst/>
              <a:gdLst/>
              <a:ahLst/>
              <a:cxnLst/>
              <a:rect l="l" t="t" r="r" b="b"/>
              <a:pathLst>
                <a:path w="499482" h="2794901">
                  <a:moveTo>
                    <a:pt x="0" y="0"/>
                  </a:moveTo>
                  <a:lnTo>
                    <a:pt x="499482" y="0"/>
                  </a:lnTo>
                  <a:lnTo>
                    <a:pt x="499482" y="2794901"/>
                  </a:lnTo>
                  <a:lnTo>
                    <a:pt x="0" y="2794901"/>
                  </a:lnTo>
                  <a:close/>
                </a:path>
              </a:pathLst>
            </a:custGeom>
            <a:solidFill>
              <a:srgbClr val="AF2929"/>
            </a:solidFill>
          </p:spPr>
          <p:txBody>
            <a:bodyPr/>
            <a:lstStyle/>
            <a:p>
              <a:endParaRPr lang="en-US">
                <a:solidFill>
                  <a:prstClr val="black"/>
                </a:solidFill>
                <a:latin typeface="Calibri"/>
              </a:endParaRPr>
            </a:p>
          </p:txBody>
        </p:sp>
        <p:sp>
          <p:nvSpPr>
            <p:cNvPr id="26" name="TextBox 21">
              <a:extLst>
                <a:ext uri="{FF2B5EF4-FFF2-40B4-BE49-F238E27FC236}">
                  <a16:creationId xmlns:a16="http://schemas.microsoft.com/office/drawing/2014/main" id="{071D7F56-2AE0-47EC-B910-92F1051858C0}"/>
                </a:ext>
              </a:extLst>
            </p:cNvPr>
            <p:cNvSpPr txBox="1"/>
            <p:nvPr/>
          </p:nvSpPr>
          <p:spPr>
            <a:xfrm>
              <a:off x="0" y="-57150"/>
              <a:ext cx="499482" cy="2852052"/>
            </a:xfrm>
            <a:prstGeom prst="rect">
              <a:avLst/>
            </a:prstGeom>
          </p:spPr>
          <p:txBody>
            <a:bodyPr lIns="50800" tIns="50800" rIns="50800" bIns="50800" rtlCol="0" anchor="ctr"/>
            <a:lstStyle/>
            <a:p>
              <a:pPr algn="ctr">
                <a:lnSpc>
                  <a:spcPts val="3396"/>
                </a:lnSpc>
              </a:pPr>
              <a:endParaRPr>
                <a:solidFill>
                  <a:prstClr val="black"/>
                </a:solidFill>
                <a:latin typeface="Calibri"/>
              </a:endParaRPr>
            </a:p>
          </p:txBody>
        </p:sp>
      </p:grpSp>
      <p:pic>
        <p:nvPicPr>
          <p:cNvPr id="3" name="Picture 2" descr="A diagram of a chip and chip diagram&#10;&#10;Description automatically generated">
            <a:extLst>
              <a:ext uri="{FF2B5EF4-FFF2-40B4-BE49-F238E27FC236}">
                <a16:creationId xmlns:a16="http://schemas.microsoft.com/office/drawing/2014/main" id="{9AABC799-D213-F6A3-9EEE-4E737B05FAA6}"/>
              </a:ext>
            </a:extLst>
          </p:cNvPr>
          <p:cNvPicPr>
            <a:picLocks noChangeAspect="1"/>
          </p:cNvPicPr>
          <p:nvPr/>
        </p:nvPicPr>
        <p:blipFill>
          <a:blip r:embed="rId3"/>
          <a:stretch>
            <a:fillRect/>
          </a:stretch>
        </p:blipFill>
        <p:spPr>
          <a:xfrm>
            <a:off x="7722144" y="923829"/>
            <a:ext cx="3439643" cy="2366296"/>
          </a:xfrm>
          <a:prstGeom prst="rect">
            <a:avLst/>
          </a:prstGeom>
          <a:ln>
            <a:solidFill>
              <a:schemeClr val="accent1"/>
            </a:solidFill>
          </a:ln>
        </p:spPr>
      </p:pic>
      <p:sp>
        <p:nvSpPr>
          <p:cNvPr id="5" name="TextBox 4">
            <a:extLst>
              <a:ext uri="{FF2B5EF4-FFF2-40B4-BE49-F238E27FC236}">
                <a16:creationId xmlns:a16="http://schemas.microsoft.com/office/drawing/2014/main" id="{5158B90C-FB82-BCD2-7640-5E74F38B045A}"/>
              </a:ext>
            </a:extLst>
          </p:cNvPr>
          <p:cNvSpPr txBox="1"/>
          <p:nvPr/>
        </p:nvSpPr>
        <p:spPr>
          <a:xfrm>
            <a:off x="7648757" y="3290125"/>
            <a:ext cx="4463022" cy="954107"/>
          </a:xfrm>
          <a:prstGeom prst="rect">
            <a:avLst/>
          </a:prstGeom>
          <a:noFill/>
        </p:spPr>
        <p:txBody>
          <a:bodyPr wrap="square" rtlCol="0">
            <a:spAutoFit/>
          </a:bodyPr>
          <a:lstStyle/>
          <a:p>
            <a:pPr marL="0" marR="0"/>
            <a:r>
              <a:rPr lang="en-US" sz="1400" dirty="0">
                <a:latin typeface="+mj-lt"/>
              </a:rPr>
              <a:t>Fig 9. </a:t>
            </a:r>
            <a:r>
              <a:rPr lang="en-US" sz="1400" dirty="0">
                <a:effectLst/>
                <a:latin typeface="+mj-lt"/>
                <a:ea typeface="Times New Roman" panose="02020603050405020304" pitchFamily="18" charset="0"/>
              </a:rPr>
              <a:t>a) Cross-section schematic of two chips connected via a silicon bridge, (b) using silicon bridges to connect </a:t>
            </a:r>
            <a:r>
              <a:rPr lang="en-US" sz="1400" dirty="0" err="1">
                <a:effectLst/>
                <a:latin typeface="+mj-lt"/>
                <a:ea typeface="Times New Roman" panose="02020603050405020304" pitchFamily="18" charset="0"/>
              </a:rPr>
              <a:t>eightmemory</a:t>
            </a:r>
            <a:r>
              <a:rPr lang="en-US" sz="1400" dirty="0">
                <a:effectLst/>
                <a:latin typeface="+mj-lt"/>
                <a:ea typeface="Times New Roman" panose="02020603050405020304" pitchFamily="18" charset="0"/>
              </a:rPr>
              <a:t> modules to two processor dies, and </a:t>
            </a:r>
            <a:r>
              <a:rPr lang="en-US" sz="1400" kern="0" dirty="0">
                <a:effectLst/>
                <a:latin typeface="+mj-lt"/>
                <a:ea typeface="Times New Roman" panose="02020603050405020304" pitchFamily="18" charset="0"/>
              </a:rPr>
              <a:t>(c) a cross-sectional view of one of the bridge assemblies.</a:t>
            </a:r>
            <a:endParaRPr lang="en-US" sz="1400" dirty="0">
              <a:latin typeface="+mj-lt"/>
            </a:endParaRPr>
          </a:p>
        </p:txBody>
      </p:sp>
      <p:pic>
        <p:nvPicPr>
          <p:cNvPr id="3074" name="Picture 2" descr="New UCIe Chiplet Standard Supported by Intel, AMD, and Arm | Tom's Hardware">
            <a:extLst>
              <a:ext uri="{FF2B5EF4-FFF2-40B4-BE49-F238E27FC236}">
                <a16:creationId xmlns:a16="http://schemas.microsoft.com/office/drawing/2014/main" id="{DC4EDA2F-F353-0C8B-81AD-DD96B3E83A2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722144" y="4244232"/>
            <a:ext cx="3439643" cy="1933903"/>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A58CF8B3-0661-1DEA-1740-C8B366D7FFCD}"/>
              </a:ext>
            </a:extLst>
          </p:cNvPr>
          <p:cNvSpPr txBox="1"/>
          <p:nvPr/>
        </p:nvSpPr>
        <p:spPr>
          <a:xfrm>
            <a:off x="7648757" y="6116711"/>
            <a:ext cx="4389635" cy="830997"/>
          </a:xfrm>
          <a:prstGeom prst="rect">
            <a:avLst/>
          </a:prstGeom>
          <a:noFill/>
        </p:spPr>
        <p:txBody>
          <a:bodyPr wrap="square" rtlCol="0">
            <a:spAutoFit/>
          </a:bodyPr>
          <a:lstStyle/>
          <a:p>
            <a:pPr marL="0" marR="0"/>
            <a:r>
              <a:rPr lang="en-US" sz="1600" dirty="0">
                <a:latin typeface="+mj-lt"/>
              </a:rPr>
              <a:t>Fig 10. UCIE-enabled GPU architecture with modular </a:t>
            </a:r>
            <a:r>
              <a:rPr lang="en-US" sz="1600" dirty="0" err="1">
                <a:latin typeface="+mj-lt"/>
              </a:rPr>
              <a:t>chiplets</a:t>
            </a:r>
            <a:r>
              <a:rPr lang="en-US" sz="1600" dirty="0">
                <a:latin typeface="+mj-lt"/>
              </a:rPr>
              <a:t>, heterogeneous cores, and advanced memory integration</a:t>
            </a:r>
          </a:p>
        </p:txBody>
      </p:sp>
    </p:spTree>
    <p:extLst>
      <p:ext uri="{BB962C8B-B14F-4D97-AF65-F5344CB8AC3E}">
        <p14:creationId xmlns:p14="http://schemas.microsoft.com/office/powerpoint/2010/main" val="26579350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5346C635-D6B1-5B01-5221-DCFDCE5D186B}"/>
              </a:ext>
            </a:extLst>
          </p:cNvPr>
          <p:cNvSpPr>
            <a:spLocks noGrp="1"/>
          </p:cNvSpPr>
          <p:nvPr>
            <p:ph type="sldNum" sz="quarter" idx="12"/>
          </p:nvPr>
        </p:nvSpPr>
        <p:spPr>
          <a:xfrm>
            <a:off x="9448800" y="6487632"/>
            <a:ext cx="2743200" cy="365125"/>
          </a:xfrm>
        </p:spPr>
        <p:txBody>
          <a:bodyPr/>
          <a:lstStyle/>
          <a:p>
            <a:fld id="{A2B8AF6F-4499-469B-A785-387A354EAEF5}" type="slidenum">
              <a:rPr lang="en-US" smtClean="0"/>
              <a:t>7</a:t>
            </a:fld>
            <a:endParaRPr lang="en-US"/>
          </a:p>
        </p:txBody>
      </p:sp>
      <p:sp>
        <p:nvSpPr>
          <p:cNvPr id="2" name="Title 1">
            <a:extLst>
              <a:ext uri="{FF2B5EF4-FFF2-40B4-BE49-F238E27FC236}">
                <a16:creationId xmlns:a16="http://schemas.microsoft.com/office/drawing/2014/main" id="{7C37EACC-4CC6-6FF7-3232-DC8467E750DF}"/>
              </a:ext>
            </a:extLst>
          </p:cNvPr>
          <p:cNvSpPr txBox="1">
            <a:spLocks/>
          </p:cNvSpPr>
          <p:nvPr/>
        </p:nvSpPr>
        <p:spPr>
          <a:xfrm>
            <a:off x="152400" y="152400"/>
            <a:ext cx="10515600" cy="523739"/>
          </a:xfrm>
          <a:prstGeom prst="rect">
            <a:avLst/>
          </a:prstGeom>
        </p:spPr>
        <p:txBody>
          <a:bodyPr vert="horz" lIns="91440" tIns="45720" rIns="91440" bIns="45720" rtlCol="0" anchor="ctr">
            <a:normAutofit fontScale="825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endParaRPr kumimoji="0" lang="en-US" sz="4400" b="0" i="0" u="none" strike="noStrike" kern="1200" cap="none" spc="0" normalizeH="0" baseline="0" noProof="0">
              <a:ln>
                <a:noFill/>
              </a:ln>
              <a:solidFill>
                <a:sysClr val="windowText" lastClr="000000"/>
              </a:solidFill>
              <a:effectLst/>
              <a:uLnTx/>
              <a:uFillTx/>
              <a:latin typeface="Aptos Display" panose="02110004020202020204"/>
              <a:ea typeface="+mj-ea"/>
              <a:cs typeface="+mj-cs"/>
            </a:endParaRPr>
          </a:p>
        </p:txBody>
      </p:sp>
      <p:sp>
        <p:nvSpPr>
          <p:cNvPr id="3" name="Content Placeholder 2">
            <a:extLst>
              <a:ext uri="{FF2B5EF4-FFF2-40B4-BE49-F238E27FC236}">
                <a16:creationId xmlns:a16="http://schemas.microsoft.com/office/drawing/2014/main" id="{7F5B7E51-4962-1773-DF5A-A5FA77C07AE7}"/>
              </a:ext>
            </a:extLst>
          </p:cNvPr>
          <p:cNvSpPr txBox="1">
            <a:spLocks/>
          </p:cNvSpPr>
          <p:nvPr/>
        </p:nvSpPr>
        <p:spPr>
          <a:xfrm>
            <a:off x="419007" y="1092745"/>
            <a:ext cx="10515600" cy="5311842"/>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marR="0" lvl="1" indent="0" algn="l" defTabSz="914400" rtl="0" eaLnBrk="1" fontAlgn="auto" latinLnBrk="0" hangingPunct="1">
              <a:lnSpc>
                <a:spcPct val="90000"/>
              </a:lnSpc>
              <a:spcBef>
                <a:spcPts val="500"/>
              </a:spcBef>
              <a:spcAft>
                <a:spcPts val="0"/>
              </a:spcAft>
              <a:buClrTx/>
              <a:buSzTx/>
              <a:buFont typeface="Arial" panose="020B0604020202020204" pitchFamily="34" charset="0"/>
              <a:buNone/>
              <a:tabLst/>
              <a:defRPr/>
            </a:pPr>
            <a:endParaRPr kumimoji="0" lang="en-US" sz="1600" b="0" i="0" u="none" strike="noStrike" kern="1200" cap="none" spc="0" normalizeH="0" baseline="0" noProof="0" dirty="0">
              <a:ln>
                <a:noFill/>
              </a:ln>
              <a:solidFill>
                <a:sysClr val="windowText" lastClr="000000"/>
              </a:solidFill>
              <a:effectLst/>
              <a:uLnTx/>
              <a:uFillTx/>
              <a:latin typeface="Aptos" panose="02110004020202020204"/>
              <a:ea typeface="+mn-lt"/>
              <a:cs typeface="+mn-lt"/>
            </a:endParaRPr>
          </a:p>
        </p:txBody>
      </p:sp>
      <p:sp>
        <p:nvSpPr>
          <p:cNvPr id="13" name="Title 1">
            <a:extLst>
              <a:ext uri="{FF2B5EF4-FFF2-40B4-BE49-F238E27FC236}">
                <a16:creationId xmlns:a16="http://schemas.microsoft.com/office/drawing/2014/main" id="{9F78531A-A46B-210D-2592-4CB4BAFD8F07}"/>
              </a:ext>
            </a:extLst>
          </p:cNvPr>
          <p:cNvSpPr txBox="1">
            <a:spLocks/>
          </p:cNvSpPr>
          <p:nvPr/>
        </p:nvSpPr>
        <p:spPr>
          <a:xfrm>
            <a:off x="272963" y="-57059"/>
            <a:ext cx="10807688" cy="644434"/>
          </a:xfrm>
          <a:prstGeom prst="rect">
            <a:avLst/>
          </a:prstGeom>
        </p:spPr>
        <p:txBody>
          <a:bodyPr vert="horz" lIns="91440" tIns="45720" rIns="91440" bIns="45720" rtlCol="0" anchor="b">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lang="en-US" sz="4000" b="1" dirty="0">
                <a:solidFill>
                  <a:srgbClr val="D51C2C"/>
                </a:solidFill>
                <a:latin typeface="Aptos Display" panose="02110004020202020204"/>
                <a:ea typeface="+mj-lt"/>
                <a:cs typeface="+mj-lt"/>
              </a:rPr>
              <a:t>Bridging Current and Future GPU Advancements</a:t>
            </a:r>
          </a:p>
        </p:txBody>
      </p:sp>
      <p:grpSp>
        <p:nvGrpSpPr>
          <p:cNvPr id="14" name="Group 19">
            <a:extLst>
              <a:ext uri="{FF2B5EF4-FFF2-40B4-BE49-F238E27FC236}">
                <a16:creationId xmlns:a16="http://schemas.microsoft.com/office/drawing/2014/main" id="{E3E0794A-BC6F-877D-9547-7001192BDA50}"/>
              </a:ext>
            </a:extLst>
          </p:cNvPr>
          <p:cNvGrpSpPr/>
          <p:nvPr/>
        </p:nvGrpSpPr>
        <p:grpSpPr>
          <a:xfrm>
            <a:off x="-1591674" y="-1521643"/>
            <a:ext cx="1896472" cy="10828883"/>
            <a:chOff x="0" y="-57150"/>
            <a:chExt cx="499482" cy="2852052"/>
          </a:xfrm>
        </p:grpSpPr>
        <p:sp>
          <p:nvSpPr>
            <p:cNvPr id="15" name="Freeform 20">
              <a:extLst>
                <a:ext uri="{FF2B5EF4-FFF2-40B4-BE49-F238E27FC236}">
                  <a16:creationId xmlns:a16="http://schemas.microsoft.com/office/drawing/2014/main" id="{C6122055-4E9C-A031-5961-30B0CC819ABF}"/>
                </a:ext>
              </a:extLst>
            </p:cNvPr>
            <p:cNvSpPr/>
            <p:nvPr/>
          </p:nvSpPr>
          <p:spPr>
            <a:xfrm>
              <a:off x="0" y="0"/>
              <a:ext cx="499482" cy="2794901"/>
            </a:xfrm>
            <a:custGeom>
              <a:avLst/>
              <a:gdLst/>
              <a:ahLst/>
              <a:cxnLst/>
              <a:rect l="l" t="t" r="r" b="b"/>
              <a:pathLst>
                <a:path w="499482" h="2794901">
                  <a:moveTo>
                    <a:pt x="0" y="0"/>
                  </a:moveTo>
                  <a:lnTo>
                    <a:pt x="499482" y="0"/>
                  </a:lnTo>
                  <a:lnTo>
                    <a:pt x="499482" y="2794901"/>
                  </a:lnTo>
                  <a:lnTo>
                    <a:pt x="0" y="2794901"/>
                  </a:lnTo>
                  <a:close/>
                </a:path>
              </a:pathLst>
            </a:custGeom>
            <a:solidFill>
              <a:srgbClr val="AF2929"/>
            </a:solidFill>
          </p:spPr>
          <p:txBody>
            <a:bodyPr/>
            <a:lstStyle/>
            <a:p>
              <a:endParaRPr lang="en-US">
                <a:solidFill>
                  <a:prstClr val="black"/>
                </a:solidFill>
                <a:latin typeface="Calibri"/>
              </a:endParaRPr>
            </a:p>
          </p:txBody>
        </p:sp>
        <p:sp>
          <p:nvSpPr>
            <p:cNvPr id="16" name="TextBox 21">
              <a:extLst>
                <a:ext uri="{FF2B5EF4-FFF2-40B4-BE49-F238E27FC236}">
                  <a16:creationId xmlns:a16="http://schemas.microsoft.com/office/drawing/2014/main" id="{ABB6D051-37AB-F205-C559-6786E07BC845}"/>
                </a:ext>
              </a:extLst>
            </p:cNvPr>
            <p:cNvSpPr txBox="1"/>
            <p:nvPr/>
          </p:nvSpPr>
          <p:spPr>
            <a:xfrm>
              <a:off x="0" y="-57150"/>
              <a:ext cx="499482" cy="2852052"/>
            </a:xfrm>
            <a:prstGeom prst="rect">
              <a:avLst/>
            </a:prstGeom>
          </p:spPr>
          <p:txBody>
            <a:bodyPr lIns="50800" tIns="50800" rIns="50800" bIns="50800" rtlCol="0" anchor="ctr"/>
            <a:lstStyle/>
            <a:p>
              <a:pPr algn="ctr">
                <a:lnSpc>
                  <a:spcPts val="3396"/>
                </a:lnSpc>
              </a:pPr>
              <a:endParaRPr>
                <a:solidFill>
                  <a:prstClr val="black"/>
                </a:solidFill>
                <a:latin typeface="Calibri"/>
              </a:endParaRPr>
            </a:p>
          </p:txBody>
        </p:sp>
      </p:grpSp>
      <p:sp>
        <p:nvSpPr>
          <p:cNvPr id="17" name="TextBox 16">
            <a:extLst>
              <a:ext uri="{FF2B5EF4-FFF2-40B4-BE49-F238E27FC236}">
                <a16:creationId xmlns:a16="http://schemas.microsoft.com/office/drawing/2014/main" id="{AB18FBA1-377D-F927-C8A1-05C421034EFB}"/>
              </a:ext>
            </a:extLst>
          </p:cNvPr>
          <p:cNvSpPr txBox="1"/>
          <p:nvPr/>
        </p:nvSpPr>
        <p:spPr>
          <a:xfrm>
            <a:off x="397397" y="628929"/>
            <a:ext cx="10077691" cy="4524315"/>
          </a:xfrm>
          <a:prstGeom prst="rect">
            <a:avLst/>
          </a:prstGeom>
          <a:noFill/>
        </p:spPr>
        <p:txBody>
          <a:bodyPr wrap="square">
            <a:spAutoFit/>
          </a:bodyPr>
          <a:lstStyle/>
          <a:p>
            <a:r>
              <a:rPr lang="en-US" b="1" dirty="0"/>
              <a:t>Challenges Resolved:</a:t>
            </a:r>
          </a:p>
          <a:p>
            <a:pPr>
              <a:buFont typeface="Arial" panose="020B0604020202020204" pitchFamily="34" charset="0"/>
              <a:buChar char="•"/>
            </a:pPr>
            <a:r>
              <a:rPr lang="en-US" dirty="0"/>
              <a:t>Optimized </a:t>
            </a:r>
            <a:r>
              <a:rPr lang="en-US" b="1" dirty="0"/>
              <a:t>memory bandwidth</a:t>
            </a:r>
            <a:r>
              <a:rPr lang="en-US" dirty="0"/>
              <a:t> with HBM and hybrid memory systems.</a:t>
            </a:r>
          </a:p>
          <a:p>
            <a:pPr>
              <a:buFont typeface="Arial" panose="020B0604020202020204" pitchFamily="34" charset="0"/>
              <a:buChar char="•"/>
            </a:pPr>
            <a:r>
              <a:rPr lang="en-US" dirty="0"/>
              <a:t>Improved </a:t>
            </a:r>
            <a:r>
              <a:rPr lang="en-US" b="1" dirty="0"/>
              <a:t>energy efficiency</a:t>
            </a:r>
            <a:r>
              <a:rPr lang="en-US" dirty="0"/>
              <a:t> via locality-aware hierarchies and thermal management.</a:t>
            </a:r>
          </a:p>
          <a:p>
            <a:pPr>
              <a:buFont typeface="Arial" panose="020B0604020202020204" pitchFamily="34" charset="0"/>
              <a:buChar char="•"/>
            </a:pPr>
            <a:r>
              <a:rPr lang="en-US" dirty="0"/>
              <a:t>Enhanced </a:t>
            </a:r>
            <a:r>
              <a:rPr lang="en-US" b="1" dirty="0"/>
              <a:t>SIMT resource utilization</a:t>
            </a:r>
            <a:r>
              <a:rPr lang="en-US" dirty="0"/>
              <a:t> through divergence reduction techniques.</a:t>
            </a:r>
          </a:p>
          <a:p>
            <a:endParaRPr lang="en-US" dirty="0"/>
          </a:p>
          <a:p>
            <a:r>
              <a:rPr lang="en-US" b="1" dirty="0"/>
              <a:t>Gaps and Opportunities:</a:t>
            </a:r>
          </a:p>
          <a:p>
            <a:pPr>
              <a:buFont typeface="Arial" panose="020B0604020202020204" pitchFamily="34" charset="0"/>
              <a:buChar char="•"/>
            </a:pPr>
            <a:r>
              <a:rPr lang="en-US" b="1" dirty="0"/>
              <a:t>Hybrid Memory Integration</a:t>
            </a:r>
            <a:r>
              <a:rPr lang="en-US" dirty="0"/>
              <a:t>:</a:t>
            </a:r>
          </a:p>
          <a:p>
            <a:pPr marL="742950" lvl="1" indent="-285750">
              <a:buFont typeface="Arial" panose="020B0604020202020204" pitchFamily="34" charset="0"/>
              <a:buChar char="•"/>
            </a:pPr>
            <a:r>
              <a:rPr lang="en-US" dirty="0"/>
              <a:t>Seamless layering of HBM with non-volatile memory for </a:t>
            </a:r>
            <a:r>
              <a:rPr lang="en-US" b="1" dirty="0"/>
              <a:t>scalability and energy savings</a:t>
            </a:r>
            <a:r>
              <a:rPr lang="en-US" dirty="0"/>
              <a:t>.</a:t>
            </a:r>
          </a:p>
          <a:p>
            <a:pPr>
              <a:buFont typeface="Arial" panose="020B0604020202020204" pitchFamily="34" charset="0"/>
              <a:buChar char="•"/>
            </a:pPr>
            <a:r>
              <a:rPr lang="en-US" b="1" dirty="0"/>
              <a:t>Real-Time Thermal Solutions</a:t>
            </a:r>
            <a:r>
              <a:rPr lang="en-US" dirty="0"/>
              <a:t>:</a:t>
            </a:r>
          </a:p>
          <a:p>
            <a:pPr marL="742950" lvl="1" indent="-285750">
              <a:buFont typeface="Arial" panose="020B0604020202020204" pitchFamily="34" charset="0"/>
              <a:buChar char="•"/>
            </a:pPr>
            <a:r>
              <a:rPr lang="en-US" dirty="0"/>
              <a:t>AI-driven management to dynamically mitigate thermal hotspots.</a:t>
            </a:r>
          </a:p>
          <a:p>
            <a:pPr>
              <a:buFont typeface="Arial" panose="020B0604020202020204" pitchFamily="34" charset="0"/>
              <a:buChar char="•"/>
            </a:pPr>
            <a:r>
              <a:rPr lang="en-US" b="1" dirty="0"/>
              <a:t>Next-Gen Modular Designs</a:t>
            </a:r>
            <a:r>
              <a:rPr lang="en-US" dirty="0"/>
              <a:t>:</a:t>
            </a:r>
          </a:p>
          <a:p>
            <a:pPr marL="742950" lvl="1" indent="-285750">
              <a:buFont typeface="Arial" panose="020B0604020202020204" pitchFamily="34" charset="0"/>
              <a:buChar char="•"/>
            </a:pPr>
            <a:r>
              <a:rPr lang="en-US" dirty="0"/>
              <a:t>UCIE-enabled </a:t>
            </a:r>
            <a:r>
              <a:rPr lang="en-US" dirty="0" err="1"/>
              <a:t>chiplet</a:t>
            </a:r>
            <a:r>
              <a:rPr lang="en-US" dirty="0"/>
              <a:t> architectures to revolutionize data locality and energy usage.</a:t>
            </a:r>
          </a:p>
          <a:p>
            <a:pPr lvl="1"/>
            <a:endParaRPr lang="en-US" dirty="0"/>
          </a:p>
          <a:p>
            <a:r>
              <a:rPr lang="en-US" b="1" dirty="0"/>
              <a:t>Transition to Future Directions:</a:t>
            </a:r>
          </a:p>
          <a:p>
            <a:pPr>
              <a:buFont typeface="Arial" panose="020B0604020202020204" pitchFamily="34" charset="0"/>
              <a:buChar char="•"/>
            </a:pPr>
            <a:r>
              <a:rPr lang="en-US" dirty="0"/>
              <a:t>Leveraging breakthroughs to tackle </a:t>
            </a:r>
            <a:r>
              <a:rPr lang="en-US" b="1" dirty="0"/>
              <a:t>AI, HPC, and edge workloads</a:t>
            </a:r>
            <a:r>
              <a:rPr lang="en-US" dirty="0"/>
              <a:t>.</a:t>
            </a:r>
          </a:p>
          <a:p>
            <a:pPr>
              <a:buFont typeface="Arial" panose="020B0604020202020204" pitchFamily="34" charset="0"/>
              <a:buChar char="•"/>
            </a:pPr>
            <a:r>
              <a:rPr lang="en-US" dirty="0"/>
              <a:t>Building GPUs tailored for </a:t>
            </a:r>
            <a:r>
              <a:rPr lang="en-US" b="1" dirty="0"/>
              <a:t>real-time, data-intensive applications</a:t>
            </a:r>
            <a:r>
              <a:rPr lang="en-US" dirty="0"/>
              <a:t>.</a:t>
            </a:r>
          </a:p>
        </p:txBody>
      </p:sp>
    </p:spTree>
    <p:extLst>
      <p:ext uri="{BB962C8B-B14F-4D97-AF65-F5344CB8AC3E}">
        <p14:creationId xmlns:p14="http://schemas.microsoft.com/office/powerpoint/2010/main" val="38988318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957AEF-2017-9322-E0FC-481C95153EF3}"/>
              </a:ext>
            </a:extLst>
          </p:cNvPr>
          <p:cNvSpPr txBox="1">
            <a:spLocks/>
          </p:cNvSpPr>
          <p:nvPr/>
        </p:nvSpPr>
        <p:spPr>
          <a:xfrm>
            <a:off x="304798" y="-797593"/>
            <a:ext cx="10515600" cy="626005"/>
          </a:xfrm>
          <a:prstGeom prst="rect">
            <a:avLst/>
          </a:prstGeom>
        </p:spPr>
        <p:txBody>
          <a:bodyPr vert="horz" lIns="91440" tIns="45720" rIns="91440" bIns="45720" rtlCol="0" anchor="b">
            <a:normAutofit fontScale="97500"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endParaRPr lang="en-US" sz="4000"/>
          </a:p>
        </p:txBody>
      </p:sp>
      <p:sp>
        <p:nvSpPr>
          <p:cNvPr id="9" name="Slide Number Placeholder 3">
            <a:extLst>
              <a:ext uri="{FF2B5EF4-FFF2-40B4-BE49-F238E27FC236}">
                <a16:creationId xmlns:a16="http://schemas.microsoft.com/office/drawing/2014/main" id="{F169F7D2-283E-A7CD-8EBF-1F663ED4D378}"/>
              </a:ext>
            </a:extLst>
          </p:cNvPr>
          <p:cNvSpPr txBox="1">
            <a:spLocks/>
          </p:cNvSpPr>
          <p:nvPr/>
        </p:nvSpPr>
        <p:spPr>
          <a:xfrm>
            <a:off x="9453281" y="6492875"/>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48F63A3B-78C7-47BE-AE5E-E10140E04643}" type="slidenum">
              <a:rPr lang="en-US" smtClean="0"/>
              <a:pPr/>
              <a:t>8</a:t>
            </a:fld>
            <a:endParaRPr lang="en-US"/>
          </a:p>
        </p:txBody>
      </p:sp>
      <p:grpSp>
        <p:nvGrpSpPr>
          <p:cNvPr id="13" name="Group 19">
            <a:extLst>
              <a:ext uri="{FF2B5EF4-FFF2-40B4-BE49-F238E27FC236}">
                <a16:creationId xmlns:a16="http://schemas.microsoft.com/office/drawing/2014/main" id="{27E3990A-A91B-A782-17A1-52AC8C45666B}"/>
              </a:ext>
            </a:extLst>
          </p:cNvPr>
          <p:cNvGrpSpPr/>
          <p:nvPr/>
        </p:nvGrpSpPr>
        <p:grpSpPr>
          <a:xfrm>
            <a:off x="-1591674" y="-1521643"/>
            <a:ext cx="1896472" cy="10828883"/>
            <a:chOff x="0" y="-57150"/>
            <a:chExt cx="499482" cy="2852052"/>
          </a:xfrm>
        </p:grpSpPr>
        <p:sp>
          <p:nvSpPr>
            <p:cNvPr id="14" name="Freeform 20">
              <a:extLst>
                <a:ext uri="{FF2B5EF4-FFF2-40B4-BE49-F238E27FC236}">
                  <a16:creationId xmlns:a16="http://schemas.microsoft.com/office/drawing/2014/main" id="{4AD532E1-7D7A-3B77-A34E-399C246C1178}"/>
                </a:ext>
              </a:extLst>
            </p:cNvPr>
            <p:cNvSpPr/>
            <p:nvPr/>
          </p:nvSpPr>
          <p:spPr>
            <a:xfrm>
              <a:off x="0" y="0"/>
              <a:ext cx="499482" cy="2794901"/>
            </a:xfrm>
            <a:custGeom>
              <a:avLst/>
              <a:gdLst/>
              <a:ahLst/>
              <a:cxnLst/>
              <a:rect l="l" t="t" r="r" b="b"/>
              <a:pathLst>
                <a:path w="499482" h="2794901">
                  <a:moveTo>
                    <a:pt x="0" y="0"/>
                  </a:moveTo>
                  <a:lnTo>
                    <a:pt x="499482" y="0"/>
                  </a:lnTo>
                  <a:lnTo>
                    <a:pt x="499482" y="2794901"/>
                  </a:lnTo>
                  <a:lnTo>
                    <a:pt x="0" y="2794901"/>
                  </a:lnTo>
                  <a:close/>
                </a:path>
              </a:pathLst>
            </a:custGeom>
            <a:solidFill>
              <a:srgbClr val="AF2929"/>
            </a:solidFill>
          </p:spPr>
          <p:txBody>
            <a:bodyPr/>
            <a:lstStyle/>
            <a:p>
              <a:endParaRPr lang="en-US">
                <a:solidFill>
                  <a:prstClr val="black"/>
                </a:solidFill>
                <a:latin typeface="Calibri"/>
              </a:endParaRPr>
            </a:p>
          </p:txBody>
        </p:sp>
        <p:sp>
          <p:nvSpPr>
            <p:cNvPr id="15" name="TextBox 21">
              <a:extLst>
                <a:ext uri="{FF2B5EF4-FFF2-40B4-BE49-F238E27FC236}">
                  <a16:creationId xmlns:a16="http://schemas.microsoft.com/office/drawing/2014/main" id="{02212A37-EAAA-398D-75F8-A7DE91C45FC1}"/>
                </a:ext>
              </a:extLst>
            </p:cNvPr>
            <p:cNvSpPr txBox="1"/>
            <p:nvPr/>
          </p:nvSpPr>
          <p:spPr>
            <a:xfrm>
              <a:off x="0" y="-57150"/>
              <a:ext cx="499482" cy="2852052"/>
            </a:xfrm>
            <a:prstGeom prst="rect">
              <a:avLst/>
            </a:prstGeom>
          </p:spPr>
          <p:txBody>
            <a:bodyPr lIns="50800" tIns="50800" rIns="50800" bIns="50800" rtlCol="0" anchor="ctr"/>
            <a:lstStyle/>
            <a:p>
              <a:pPr algn="ctr">
                <a:lnSpc>
                  <a:spcPts val="3396"/>
                </a:lnSpc>
              </a:pPr>
              <a:endParaRPr>
                <a:solidFill>
                  <a:prstClr val="black"/>
                </a:solidFill>
                <a:latin typeface="Calibri"/>
              </a:endParaRPr>
            </a:p>
          </p:txBody>
        </p:sp>
      </p:grpSp>
      <p:sp>
        <p:nvSpPr>
          <p:cNvPr id="17" name="Title 1">
            <a:extLst>
              <a:ext uri="{FF2B5EF4-FFF2-40B4-BE49-F238E27FC236}">
                <a16:creationId xmlns:a16="http://schemas.microsoft.com/office/drawing/2014/main" id="{9E77048A-0A75-8D8A-37C7-88E4921E52A6}"/>
              </a:ext>
            </a:extLst>
          </p:cNvPr>
          <p:cNvSpPr txBox="1">
            <a:spLocks/>
          </p:cNvSpPr>
          <p:nvPr/>
        </p:nvSpPr>
        <p:spPr>
          <a:xfrm>
            <a:off x="272963" y="-57059"/>
            <a:ext cx="10807688" cy="644434"/>
          </a:xfrm>
          <a:prstGeom prst="rect">
            <a:avLst/>
          </a:prstGeom>
        </p:spPr>
        <p:txBody>
          <a:bodyPr vert="horz" lIns="91440" tIns="45720" rIns="91440" bIns="45720" rtlCol="0" anchor="b">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lang="en-US" sz="4000" b="1" dirty="0">
                <a:solidFill>
                  <a:srgbClr val="D51C2C"/>
                </a:solidFill>
                <a:latin typeface="Aptos Display" panose="02110004020202020204"/>
                <a:ea typeface="+mj-lt"/>
                <a:cs typeface="+mj-lt"/>
              </a:rPr>
              <a:t>Bridging Current and Future GPU Advancements</a:t>
            </a:r>
          </a:p>
        </p:txBody>
      </p:sp>
      <p:sp>
        <p:nvSpPr>
          <p:cNvPr id="19" name="TextBox 18">
            <a:extLst>
              <a:ext uri="{FF2B5EF4-FFF2-40B4-BE49-F238E27FC236}">
                <a16:creationId xmlns:a16="http://schemas.microsoft.com/office/drawing/2014/main" id="{8AA82CC7-63A6-BB3B-CE31-4204D6C131C1}"/>
              </a:ext>
            </a:extLst>
          </p:cNvPr>
          <p:cNvSpPr txBox="1"/>
          <p:nvPr/>
        </p:nvSpPr>
        <p:spPr>
          <a:xfrm>
            <a:off x="304798" y="585470"/>
            <a:ext cx="7687863" cy="5909310"/>
          </a:xfrm>
          <a:prstGeom prst="rect">
            <a:avLst/>
          </a:prstGeom>
          <a:noFill/>
        </p:spPr>
        <p:txBody>
          <a:bodyPr wrap="square">
            <a:spAutoFit/>
          </a:bodyPr>
          <a:lstStyle/>
          <a:p>
            <a:r>
              <a:rPr lang="en-US" b="1" dirty="0"/>
              <a:t>Key Innovations Driving GPU Advancements:</a:t>
            </a:r>
          </a:p>
          <a:p>
            <a:pPr>
              <a:buFont typeface="Arial" panose="020B0604020202020204" pitchFamily="34" charset="0"/>
              <a:buChar char="•"/>
            </a:pPr>
            <a:r>
              <a:rPr lang="en-US" b="1" dirty="0"/>
              <a:t>Hybrid Memory Systems (HMS):</a:t>
            </a:r>
            <a:endParaRPr lang="en-US" dirty="0"/>
          </a:p>
          <a:p>
            <a:pPr marL="742950" lvl="1" indent="-285750">
              <a:buFont typeface="Arial" panose="020B0604020202020204" pitchFamily="34" charset="0"/>
              <a:buChar char="•"/>
            </a:pPr>
            <a:r>
              <a:rPr lang="en-US" dirty="0"/>
              <a:t>Combines High Bandwidth Memory (HBM) with non-volatile storage (e.g., NVRAM, 3D </a:t>
            </a:r>
            <a:r>
              <a:rPr lang="en-US" dirty="0" err="1"/>
              <a:t>XPoint</a:t>
            </a:r>
            <a:r>
              <a:rPr lang="en-US" dirty="0"/>
              <a:t>).</a:t>
            </a:r>
          </a:p>
          <a:p>
            <a:pPr marL="742950" lvl="1" indent="-285750">
              <a:buFont typeface="Arial" panose="020B0604020202020204" pitchFamily="34" charset="0"/>
              <a:buChar char="•"/>
            </a:pPr>
            <a:r>
              <a:rPr lang="en-US" dirty="0"/>
              <a:t>Balances performance and capacity with dynamic data placement.</a:t>
            </a:r>
          </a:p>
          <a:p>
            <a:pPr>
              <a:buFont typeface="Arial" panose="020B0604020202020204" pitchFamily="34" charset="0"/>
              <a:buChar char="•"/>
            </a:pPr>
            <a:r>
              <a:rPr lang="en-US" b="1" dirty="0"/>
              <a:t>Advanced Thermal Management:</a:t>
            </a:r>
            <a:endParaRPr lang="en-US" dirty="0"/>
          </a:p>
          <a:p>
            <a:pPr marL="742950" lvl="1" indent="-285750">
              <a:buFont typeface="Arial" panose="020B0604020202020204" pitchFamily="34" charset="0"/>
              <a:buChar char="•"/>
            </a:pPr>
            <a:r>
              <a:rPr lang="en-US" dirty="0"/>
              <a:t>Techniques like micro-channel cooling, MR-MUF, and graphene-coated interposers.</a:t>
            </a:r>
          </a:p>
          <a:p>
            <a:pPr marL="742950" lvl="1" indent="-285750">
              <a:buFont typeface="Arial" panose="020B0604020202020204" pitchFamily="34" charset="0"/>
              <a:buChar char="•"/>
            </a:pPr>
            <a:r>
              <a:rPr lang="en-US" dirty="0"/>
              <a:t>Improves thermal efficiency, enabling safe scaling of HBM stacks.</a:t>
            </a:r>
          </a:p>
          <a:p>
            <a:pPr>
              <a:buFont typeface="Arial" panose="020B0604020202020204" pitchFamily="34" charset="0"/>
              <a:buChar char="•"/>
            </a:pPr>
            <a:r>
              <a:rPr lang="en-US" b="1" dirty="0"/>
              <a:t>SIMT Efficiency Enhancements:</a:t>
            </a:r>
            <a:endParaRPr lang="en-US" dirty="0"/>
          </a:p>
          <a:p>
            <a:pPr marL="742950" lvl="1" indent="-285750">
              <a:buFont typeface="Arial" panose="020B0604020202020204" pitchFamily="34" charset="0"/>
              <a:buChar char="•"/>
            </a:pPr>
            <a:r>
              <a:rPr lang="en-US" dirty="0"/>
              <a:t>Dynamic Warp Formation (DWF) and Thread Block Compaction (TBC).</a:t>
            </a:r>
          </a:p>
          <a:p>
            <a:pPr marL="742950" lvl="1" indent="-285750">
              <a:buFont typeface="Arial" panose="020B0604020202020204" pitchFamily="34" charset="0"/>
              <a:buChar char="•"/>
            </a:pPr>
            <a:r>
              <a:rPr lang="en-US" dirty="0"/>
              <a:t>Achieves up to </a:t>
            </a:r>
            <a:r>
              <a:rPr lang="en-US" b="1" dirty="0"/>
              <a:t>22% higher IPC</a:t>
            </a:r>
            <a:r>
              <a:rPr lang="en-US" dirty="0"/>
              <a:t> and 36% lower latency in divergent workloads.</a:t>
            </a:r>
          </a:p>
          <a:p>
            <a:pPr>
              <a:buFont typeface="Arial" panose="020B0604020202020204" pitchFamily="34" charset="0"/>
              <a:buChar char="•"/>
            </a:pPr>
            <a:r>
              <a:rPr lang="en-US" b="1" dirty="0" err="1"/>
              <a:t>Chiplet</a:t>
            </a:r>
            <a:r>
              <a:rPr lang="en-US" b="1" dirty="0"/>
              <a:t>-Based Architectures:</a:t>
            </a:r>
            <a:endParaRPr lang="en-US" dirty="0"/>
          </a:p>
          <a:p>
            <a:pPr marL="742950" lvl="1" indent="-285750">
              <a:buFont typeface="Arial" panose="020B0604020202020204" pitchFamily="34" charset="0"/>
              <a:buChar char="•"/>
            </a:pPr>
            <a:r>
              <a:rPr lang="en-US" dirty="0"/>
              <a:t>Modular designs for tailored GPU configurations.</a:t>
            </a:r>
          </a:p>
          <a:p>
            <a:pPr marL="742950" lvl="1" indent="-285750">
              <a:buFont typeface="Arial" panose="020B0604020202020204" pitchFamily="34" charset="0"/>
              <a:buChar char="•"/>
            </a:pPr>
            <a:r>
              <a:rPr lang="en-US" dirty="0"/>
              <a:t>Optimized for edge computing, AI inference, and diverse workloads.</a:t>
            </a:r>
          </a:p>
          <a:p>
            <a:pPr>
              <a:buFont typeface="Arial" panose="020B0604020202020204" pitchFamily="34" charset="0"/>
              <a:buChar char="•"/>
            </a:pPr>
            <a:r>
              <a:rPr lang="en-US" b="1" dirty="0"/>
              <a:t>AI-Driven Scheduling:</a:t>
            </a:r>
            <a:endParaRPr lang="en-US" dirty="0"/>
          </a:p>
          <a:p>
            <a:pPr marL="742950" lvl="1" indent="-285750">
              <a:buFont typeface="Arial" panose="020B0604020202020204" pitchFamily="34" charset="0"/>
              <a:buChar char="•"/>
            </a:pPr>
            <a:r>
              <a:rPr lang="en-US" dirty="0"/>
              <a:t>Predictive schedulers dynamically allocate GPU resources.</a:t>
            </a:r>
          </a:p>
          <a:p>
            <a:pPr marL="742950" lvl="1" indent="-285750">
              <a:buFont typeface="Arial" panose="020B0604020202020204" pitchFamily="34" charset="0"/>
              <a:buChar char="•"/>
            </a:pPr>
            <a:r>
              <a:rPr lang="en-US" dirty="0"/>
              <a:t>Reduces idle cycles and improves throughput for complex workloads.</a:t>
            </a:r>
          </a:p>
        </p:txBody>
      </p:sp>
      <p:pic>
        <p:nvPicPr>
          <p:cNvPr id="20" name="Picture 19">
            <a:extLst>
              <a:ext uri="{FF2B5EF4-FFF2-40B4-BE49-F238E27FC236}">
                <a16:creationId xmlns:a16="http://schemas.microsoft.com/office/drawing/2014/main" id="{390ECF61-DE66-5CE2-2DE1-266D51EB7ED1}"/>
              </a:ext>
            </a:extLst>
          </p:cNvPr>
          <p:cNvPicPr>
            <a:picLocks noChangeAspect="1"/>
          </p:cNvPicPr>
          <p:nvPr/>
        </p:nvPicPr>
        <p:blipFill>
          <a:blip r:embed="rId3"/>
          <a:stretch>
            <a:fillRect/>
          </a:stretch>
        </p:blipFill>
        <p:spPr>
          <a:xfrm>
            <a:off x="8252749" y="1229904"/>
            <a:ext cx="3634453" cy="2853175"/>
          </a:xfrm>
          <a:prstGeom prst="rect">
            <a:avLst/>
          </a:prstGeom>
        </p:spPr>
      </p:pic>
      <p:sp>
        <p:nvSpPr>
          <p:cNvPr id="21" name="TextBox 20">
            <a:extLst>
              <a:ext uri="{FF2B5EF4-FFF2-40B4-BE49-F238E27FC236}">
                <a16:creationId xmlns:a16="http://schemas.microsoft.com/office/drawing/2014/main" id="{997267BC-DDD0-5C5D-FA9F-03C5F51864DE}"/>
              </a:ext>
            </a:extLst>
          </p:cNvPr>
          <p:cNvSpPr txBox="1"/>
          <p:nvPr/>
        </p:nvSpPr>
        <p:spPr>
          <a:xfrm>
            <a:off x="8252749" y="4083079"/>
            <a:ext cx="3666288" cy="830997"/>
          </a:xfrm>
          <a:prstGeom prst="rect">
            <a:avLst/>
          </a:prstGeom>
          <a:noFill/>
        </p:spPr>
        <p:txBody>
          <a:bodyPr wrap="square" rtlCol="0">
            <a:spAutoFit/>
          </a:bodyPr>
          <a:lstStyle/>
          <a:p>
            <a:r>
              <a:rPr lang="en-US" sz="1600" dirty="0">
                <a:latin typeface="+mj-lt"/>
              </a:rPr>
              <a:t>Fig 11. Overview of 3D </a:t>
            </a:r>
            <a:r>
              <a:rPr lang="en-US" sz="1600" dirty="0" err="1">
                <a:latin typeface="+mj-lt"/>
              </a:rPr>
              <a:t>XPoint</a:t>
            </a:r>
            <a:r>
              <a:rPr lang="en-US" sz="1600" dirty="0">
                <a:latin typeface="+mj-lt"/>
              </a:rPr>
              <a:t> Technology - Non-volatile memory enhancing GPU scalability and energy efficiency</a:t>
            </a:r>
          </a:p>
        </p:txBody>
      </p:sp>
    </p:spTree>
    <p:extLst>
      <p:ext uri="{BB962C8B-B14F-4D97-AF65-F5344CB8AC3E}">
        <p14:creationId xmlns:p14="http://schemas.microsoft.com/office/powerpoint/2010/main" val="23975928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957AEF-2017-9322-E0FC-481C95153EF3}"/>
              </a:ext>
            </a:extLst>
          </p:cNvPr>
          <p:cNvSpPr txBox="1">
            <a:spLocks/>
          </p:cNvSpPr>
          <p:nvPr/>
        </p:nvSpPr>
        <p:spPr>
          <a:xfrm>
            <a:off x="304798" y="-797593"/>
            <a:ext cx="10515600" cy="626005"/>
          </a:xfrm>
          <a:prstGeom prst="rect">
            <a:avLst/>
          </a:prstGeom>
        </p:spPr>
        <p:txBody>
          <a:bodyPr vert="horz" lIns="91440" tIns="45720" rIns="91440" bIns="45720" rtlCol="0" anchor="b">
            <a:normAutofit fontScale="97500"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endParaRPr lang="en-US" sz="4000"/>
          </a:p>
        </p:txBody>
      </p:sp>
      <p:sp>
        <p:nvSpPr>
          <p:cNvPr id="9" name="Slide Number Placeholder 3">
            <a:extLst>
              <a:ext uri="{FF2B5EF4-FFF2-40B4-BE49-F238E27FC236}">
                <a16:creationId xmlns:a16="http://schemas.microsoft.com/office/drawing/2014/main" id="{F169F7D2-283E-A7CD-8EBF-1F663ED4D378}"/>
              </a:ext>
            </a:extLst>
          </p:cNvPr>
          <p:cNvSpPr txBox="1">
            <a:spLocks/>
          </p:cNvSpPr>
          <p:nvPr/>
        </p:nvSpPr>
        <p:spPr>
          <a:xfrm>
            <a:off x="9453281" y="6492875"/>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48F63A3B-78C7-47BE-AE5E-E10140E04643}" type="slidenum">
              <a:rPr lang="en-US" smtClean="0"/>
              <a:pPr/>
              <a:t>9</a:t>
            </a:fld>
            <a:endParaRPr lang="en-US"/>
          </a:p>
        </p:txBody>
      </p:sp>
      <p:sp>
        <p:nvSpPr>
          <p:cNvPr id="11" name="Title 1">
            <a:extLst>
              <a:ext uri="{FF2B5EF4-FFF2-40B4-BE49-F238E27FC236}">
                <a16:creationId xmlns:a16="http://schemas.microsoft.com/office/drawing/2014/main" id="{865C59D4-831A-9B4B-4E0B-4D4B65A40184}"/>
              </a:ext>
            </a:extLst>
          </p:cNvPr>
          <p:cNvSpPr txBox="1">
            <a:spLocks/>
          </p:cNvSpPr>
          <p:nvPr/>
        </p:nvSpPr>
        <p:spPr>
          <a:xfrm>
            <a:off x="304798" y="0"/>
            <a:ext cx="10423378" cy="1196896"/>
          </a:xfrm>
          <a:prstGeom prst="rect">
            <a:avLst/>
          </a:prstGeom>
        </p:spPr>
        <p:txBody>
          <a:bodyPr vert="horz" lIns="91440" tIns="45720" rIns="91440" bIns="45720" rtlCol="0" anchor="b">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defRPr/>
            </a:pPr>
            <a:r>
              <a:rPr lang="en-US" sz="4000" b="1" dirty="0">
                <a:solidFill>
                  <a:srgbClr val="D51C2C"/>
                </a:solidFill>
                <a:latin typeface="Aptos Display" panose="02110004020202020204"/>
                <a:ea typeface="+mj-lt"/>
                <a:cs typeface="+mj-lt"/>
              </a:rPr>
              <a:t>Conclusion: Empowering Next-Generation GPUs</a:t>
            </a:r>
          </a:p>
        </p:txBody>
      </p:sp>
      <p:grpSp>
        <p:nvGrpSpPr>
          <p:cNvPr id="3" name="Group 19">
            <a:extLst>
              <a:ext uri="{FF2B5EF4-FFF2-40B4-BE49-F238E27FC236}">
                <a16:creationId xmlns:a16="http://schemas.microsoft.com/office/drawing/2014/main" id="{9FDF79F2-0EDF-7297-09B8-DA126618ADC0}"/>
              </a:ext>
            </a:extLst>
          </p:cNvPr>
          <p:cNvGrpSpPr/>
          <p:nvPr/>
        </p:nvGrpSpPr>
        <p:grpSpPr>
          <a:xfrm>
            <a:off x="-1591674" y="-1521643"/>
            <a:ext cx="1896472" cy="10828883"/>
            <a:chOff x="0" y="-57150"/>
            <a:chExt cx="499482" cy="2852052"/>
          </a:xfrm>
        </p:grpSpPr>
        <p:sp>
          <p:nvSpPr>
            <p:cNvPr id="4" name="Freeform 20">
              <a:extLst>
                <a:ext uri="{FF2B5EF4-FFF2-40B4-BE49-F238E27FC236}">
                  <a16:creationId xmlns:a16="http://schemas.microsoft.com/office/drawing/2014/main" id="{98BEF9A3-61B2-120A-DBDB-A6109EA41E39}"/>
                </a:ext>
              </a:extLst>
            </p:cNvPr>
            <p:cNvSpPr/>
            <p:nvPr/>
          </p:nvSpPr>
          <p:spPr>
            <a:xfrm>
              <a:off x="0" y="0"/>
              <a:ext cx="499482" cy="2794901"/>
            </a:xfrm>
            <a:custGeom>
              <a:avLst/>
              <a:gdLst/>
              <a:ahLst/>
              <a:cxnLst/>
              <a:rect l="l" t="t" r="r" b="b"/>
              <a:pathLst>
                <a:path w="499482" h="2794901">
                  <a:moveTo>
                    <a:pt x="0" y="0"/>
                  </a:moveTo>
                  <a:lnTo>
                    <a:pt x="499482" y="0"/>
                  </a:lnTo>
                  <a:lnTo>
                    <a:pt x="499482" y="2794901"/>
                  </a:lnTo>
                  <a:lnTo>
                    <a:pt x="0" y="2794901"/>
                  </a:lnTo>
                  <a:close/>
                </a:path>
              </a:pathLst>
            </a:custGeom>
            <a:solidFill>
              <a:srgbClr val="AF2929"/>
            </a:solidFill>
          </p:spPr>
          <p:txBody>
            <a:bodyPr/>
            <a:lstStyle/>
            <a:p>
              <a:endParaRPr lang="en-US">
                <a:solidFill>
                  <a:prstClr val="black"/>
                </a:solidFill>
                <a:latin typeface="Calibri"/>
              </a:endParaRPr>
            </a:p>
          </p:txBody>
        </p:sp>
        <p:sp>
          <p:nvSpPr>
            <p:cNvPr id="5" name="TextBox 21">
              <a:extLst>
                <a:ext uri="{FF2B5EF4-FFF2-40B4-BE49-F238E27FC236}">
                  <a16:creationId xmlns:a16="http://schemas.microsoft.com/office/drawing/2014/main" id="{4CEF6063-1272-8693-D9C3-46E6561ABE81}"/>
                </a:ext>
              </a:extLst>
            </p:cNvPr>
            <p:cNvSpPr txBox="1"/>
            <p:nvPr/>
          </p:nvSpPr>
          <p:spPr>
            <a:xfrm>
              <a:off x="0" y="-57150"/>
              <a:ext cx="499482" cy="2852052"/>
            </a:xfrm>
            <a:prstGeom prst="rect">
              <a:avLst/>
            </a:prstGeom>
          </p:spPr>
          <p:txBody>
            <a:bodyPr lIns="50800" tIns="50800" rIns="50800" bIns="50800" rtlCol="0" anchor="ctr"/>
            <a:lstStyle/>
            <a:p>
              <a:pPr algn="ctr">
                <a:lnSpc>
                  <a:spcPts val="3396"/>
                </a:lnSpc>
              </a:pPr>
              <a:endParaRPr>
                <a:solidFill>
                  <a:prstClr val="black"/>
                </a:solidFill>
                <a:latin typeface="Calibri"/>
              </a:endParaRPr>
            </a:p>
          </p:txBody>
        </p:sp>
      </p:grpSp>
      <p:sp>
        <p:nvSpPr>
          <p:cNvPr id="6" name="TextBox 5">
            <a:extLst>
              <a:ext uri="{FF2B5EF4-FFF2-40B4-BE49-F238E27FC236}">
                <a16:creationId xmlns:a16="http://schemas.microsoft.com/office/drawing/2014/main" id="{FB8DAA59-8F4F-C694-574F-C466E3B8A907}"/>
              </a:ext>
            </a:extLst>
          </p:cNvPr>
          <p:cNvSpPr txBox="1"/>
          <p:nvPr/>
        </p:nvSpPr>
        <p:spPr>
          <a:xfrm>
            <a:off x="474562" y="1400537"/>
            <a:ext cx="11412640" cy="4247317"/>
          </a:xfrm>
          <a:prstGeom prst="rect">
            <a:avLst/>
          </a:prstGeom>
          <a:noFill/>
        </p:spPr>
        <p:txBody>
          <a:bodyPr wrap="square" rtlCol="0">
            <a:spAutoFit/>
          </a:bodyPr>
          <a:lstStyle/>
          <a:p>
            <a:r>
              <a:rPr lang="en-US" b="1" dirty="0"/>
              <a:t>Key Takeaways:</a:t>
            </a:r>
            <a:endParaRPr lang="en-US" dirty="0"/>
          </a:p>
          <a:p>
            <a:pPr>
              <a:buFont typeface="Arial" panose="020B0604020202020204" pitchFamily="34" charset="0"/>
              <a:buChar char="•"/>
            </a:pPr>
            <a:r>
              <a:rPr lang="en-US" b="1" dirty="0"/>
              <a:t>Memory Bandwidth Revolution:</a:t>
            </a:r>
            <a:r>
              <a:rPr lang="en-US" dirty="0"/>
              <a:t> High Bandwidth Memory (HBM) and hybrid memory systems address bottlenecks in performance and capacity.</a:t>
            </a:r>
          </a:p>
          <a:p>
            <a:pPr>
              <a:buFont typeface="Arial" panose="020B0604020202020204" pitchFamily="34" charset="0"/>
              <a:buChar char="•"/>
            </a:pPr>
            <a:r>
              <a:rPr lang="en-US" b="1" dirty="0"/>
              <a:t>Energy and Efficiency Gains:</a:t>
            </a:r>
            <a:r>
              <a:rPr lang="en-US" dirty="0"/>
              <a:t> Advanced cooling techniques and logic-layer integration reduce energy consumption while improving scalability.</a:t>
            </a:r>
          </a:p>
          <a:p>
            <a:pPr>
              <a:buFont typeface="Arial" panose="020B0604020202020204" pitchFamily="34" charset="0"/>
              <a:buChar char="•"/>
            </a:pPr>
            <a:r>
              <a:rPr lang="en-US" b="1" dirty="0"/>
              <a:t>Optimized Processing:</a:t>
            </a:r>
            <a:r>
              <a:rPr lang="en-US" dirty="0"/>
              <a:t> Techniques like Thread Block Compaction (TBC), Dynamic Warp Formation (DWF), and UCIE-driven modular designs ensure adaptability across diverse workloads.</a:t>
            </a:r>
          </a:p>
          <a:p>
            <a:r>
              <a:rPr lang="en-US" b="1" dirty="0"/>
              <a:t>Future Horizons:</a:t>
            </a:r>
            <a:endParaRPr lang="en-US" dirty="0"/>
          </a:p>
          <a:p>
            <a:pPr>
              <a:buFont typeface="Arial" panose="020B0604020202020204" pitchFamily="34" charset="0"/>
              <a:buChar char="•"/>
            </a:pPr>
            <a:r>
              <a:rPr lang="en-US" dirty="0"/>
              <a:t>Seamless </a:t>
            </a:r>
            <a:r>
              <a:rPr lang="en-US" b="1" dirty="0"/>
              <a:t>hybrid memory integration</a:t>
            </a:r>
            <a:r>
              <a:rPr lang="en-US" dirty="0"/>
              <a:t> to balance performance, cost, and energy efficiency.</a:t>
            </a:r>
          </a:p>
          <a:p>
            <a:pPr>
              <a:buFont typeface="Arial" panose="020B0604020202020204" pitchFamily="34" charset="0"/>
              <a:buChar char="•"/>
            </a:pPr>
            <a:r>
              <a:rPr lang="en-US" dirty="0"/>
              <a:t>AI-powered </a:t>
            </a:r>
            <a:r>
              <a:rPr lang="en-US" b="1" dirty="0"/>
              <a:t>workload management</a:t>
            </a:r>
            <a:r>
              <a:rPr lang="en-US" dirty="0"/>
              <a:t> and real-time </a:t>
            </a:r>
            <a:r>
              <a:rPr lang="en-US" b="1" dirty="0"/>
              <a:t>thermal optimization</a:t>
            </a:r>
            <a:r>
              <a:rPr lang="en-US" dirty="0"/>
              <a:t> to enhance scalability.</a:t>
            </a:r>
          </a:p>
          <a:p>
            <a:pPr>
              <a:buFont typeface="Arial" panose="020B0604020202020204" pitchFamily="34" charset="0"/>
              <a:buChar char="•"/>
            </a:pPr>
            <a:r>
              <a:rPr lang="en-US" dirty="0"/>
              <a:t>Modular architectures like </a:t>
            </a:r>
            <a:r>
              <a:rPr lang="en-US" b="1" dirty="0"/>
              <a:t>UCIE-enabled GPUs</a:t>
            </a:r>
            <a:r>
              <a:rPr lang="en-US" dirty="0"/>
              <a:t> to unlock unprecedented versatility for AI, HPC, and edge computing.</a:t>
            </a:r>
          </a:p>
          <a:p>
            <a:r>
              <a:rPr lang="en-US" b="1" dirty="0"/>
              <a:t>Vision Forward:</a:t>
            </a:r>
            <a:endParaRPr lang="en-US" dirty="0"/>
          </a:p>
          <a:p>
            <a:pPr>
              <a:buFont typeface="Arial" panose="020B0604020202020204" pitchFamily="34" charset="0"/>
              <a:buChar char="•"/>
            </a:pPr>
            <a:r>
              <a:rPr lang="en-US" dirty="0"/>
              <a:t>GPUs will continue to evolve as a cornerstone of </a:t>
            </a:r>
            <a:r>
              <a:rPr lang="en-US" b="1" dirty="0"/>
              <a:t>modern computing</a:t>
            </a:r>
            <a:r>
              <a:rPr lang="en-US" dirty="0"/>
              <a:t>, empowering breakthroughs in AI, real-time analytics, and next-gen workloads.</a:t>
            </a:r>
          </a:p>
        </p:txBody>
      </p:sp>
    </p:spTree>
    <p:extLst>
      <p:ext uri="{BB962C8B-B14F-4D97-AF65-F5344CB8AC3E}">
        <p14:creationId xmlns:p14="http://schemas.microsoft.com/office/powerpoint/2010/main" val="8645021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111216ff-38bd-4bdb-88af-976068a6f500}" enabled="1" method="Privileged" siteId="{a8eec281-aaa3-4dae-ac9b-9a398b9215e7}" removed="0"/>
</clbl:labelList>
</file>

<file path=docProps/app.xml><?xml version="1.0" encoding="utf-8"?>
<Properties xmlns="http://schemas.openxmlformats.org/officeDocument/2006/extended-properties" xmlns:vt="http://schemas.openxmlformats.org/officeDocument/2006/docPropsVTypes">
  <Template/>
  <TotalTime>159</TotalTime>
  <Words>1626</Words>
  <Application>Microsoft Macintosh PowerPoint</Application>
  <PresentationFormat>Widescreen</PresentationFormat>
  <Paragraphs>158</Paragraphs>
  <Slides>9</Slides>
  <Notes>8</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9</vt:i4>
      </vt:variant>
    </vt:vector>
  </HeadingPairs>
  <TitlesOfParts>
    <vt:vector size="17" baseType="lpstr">
      <vt:lpstr>Aptos</vt:lpstr>
      <vt:lpstr>Aptos Display</vt:lpstr>
      <vt:lpstr>Arial</vt:lpstr>
      <vt:lpstr>Calibri</vt:lpstr>
      <vt:lpstr>Lato Extended</vt:lpstr>
      <vt:lpstr>Times New Roman</vt:lpstr>
      <vt:lpstr>Office Theme</vt:lpstr>
      <vt:lpstr>1_Office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Advancing Semiconductor Technologies: A Comprehensive Study on Graphene Nanoribbon Field-Effect Transistors (GNRFETs)</dc:title>
  <dc:creator>Suchibrata Das</dc:creator>
  <cp:lastModifiedBy>Suchibrata Das</cp:lastModifiedBy>
  <cp:revision>3</cp:revision>
  <dcterms:created xsi:type="dcterms:W3CDTF">2024-04-13T16:11:46Z</dcterms:created>
  <dcterms:modified xsi:type="dcterms:W3CDTF">2024-12-03T17:58:12Z</dcterms:modified>
</cp:coreProperties>
</file>